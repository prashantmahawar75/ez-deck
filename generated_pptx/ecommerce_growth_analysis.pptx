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covers the key points from the document 'E-Commerce Growth Analysis: India 2020–2025'.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we will cover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Size (USD Billion) grew 195% from 2020 to 2025 (38 → 112). Electronics leads with 28% share (28).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Size (USD Billion) grew 195% from 2020 to 2025 (38 → 112). Sharpest growth occurred 2020→2021 with 42% increase. Market Size (USD Billion) growth is decelerating — rate slowed from 22% to 13%.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Electronics leads in Revenue (USD Billion) at 31.4. Electronics outperforms Home &amp; Furniture by 2.8x (31.4 vs 11.2). Electronics leads with 28% share (28).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Key Growth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Flipkart (incl. Myntra) leads with 35% share (35). Top 2 (Flipkart (incl. Myntra) + Amazon India) control 67% of total. Others represents only 8% — smallest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Amazon leads in CAC (USD) at 15. Amazon outperforms Meesho by 3.8x (15 vs 4). Amazon leads in LTV (USD) at 105.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Logistics &amp; Delivery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Projected Market Size (USD B) grew 33% from 2026 to 2028 (128 → 170).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top takeaways from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87667" y="1920240"/>
            <a:ext cx="73152" cy="24003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87" y="1714500"/>
            <a:ext cx="10759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E-Commerce Growth Analysis: India 2020–2025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7" y="3977639"/>
            <a:ext cx="1009472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AABBCC"/>
                </a:solidFill>
                <a:latin typeface="Calibri"/>
              </a:rPr>
              <a:t>India's e-commerce sector has witnessed unprecedented growth over the past five years, driven by smartphone penetration,...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Oval 4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Oval 6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Market Size &amp; Revenue</a:t>
            </a:r>
          </a:p>
        </p:txBody>
      </p:sp>
      <p:sp>
        <p:nvSpPr>
          <p:cNvPr id="9" name="Oval 8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Category-wise Revenue Breakdown (2025)</a:t>
            </a:r>
          </a:p>
        </p:txBody>
      </p:sp>
      <p:sp>
        <p:nvSpPr>
          <p:cNvPr id="11" name="Oval 10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Key Growth Drivers</a:t>
            </a:r>
          </a:p>
        </p:txBody>
      </p:sp>
      <p:sp>
        <p:nvSpPr>
          <p:cNvPr id="13" name="Oval 12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Platform Market Share (2025)</a:t>
            </a:r>
          </a:p>
        </p:txBody>
      </p:sp>
      <p:sp>
        <p:nvSpPr>
          <p:cNvPr id="15" name="Oval 14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Customer Acquisition Cost vs Lifetime Value</a:t>
            </a:r>
          </a:p>
        </p:txBody>
      </p:sp>
      <p:sp>
        <p:nvSpPr>
          <p:cNvPr id="17" name="Oval 16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Logistics &amp; Delivery Metrics</a:t>
            </a:r>
          </a:p>
        </p:txBody>
      </p:sp>
      <p:sp>
        <p:nvSpPr>
          <p:cNvPr id="19" name="Oval 18"/>
          <p:cNvSpPr/>
          <p:nvPr/>
        </p:nvSpPr>
        <p:spPr>
          <a:xfrm>
            <a:off x="670547" y="58041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8915" y="58041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1987" y="1460754"/>
            <a:ext cx="953390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F81BD"/>
                </a:solidFill>
                <a:latin typeface="Calibri"/>
              </a:rPr>
              <a:t>Market Size (USD Billion) grew 195% from 2020 to 2025 (38 → 112)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87" y="3563874"/>
            <a:ext cx="4486543" cy="3657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7" y="3883914"/>
            <a:ext cx="54864" cy="503491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07" y="3838194"/>
            <a:ext cx="10301959" cy="640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Market Size (USD Billion) grew 195% from 2020 to 2025 (38 → 112)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7" y="4524565"/>
            <a:ext cx="54864" cy="503491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07" y="4478845"/>
            <a:ext cx="10301959" cy="640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Electronics leads with 28% share (28)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7" y="5165217"/>
            <a:ext cx="54864" cy="503491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07" y="5119497"/>
            <a:ext cx="10301959" cy="640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Sharpest growth occurred 2020→2021 with 42% increase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987" y="5805868"/>
            <a:ext cx="54864" cy="503491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307" y="5760148"/>
            <a:ext cx="10301959" cy="640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Sharpest growth occurred 2020→2021 with 250% increase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Market Size &amp; Revenue</a:t>
            </a:r>
          </a:p>
        </p:txBody>
      </p:sp>
      <p:pic>
        <p:nvPicPr>
          <p:cNvPr id="4" name="line_chart" descr="Line chart: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Category-wise Revenue Breakdown (2025)</a:t>
            </a:r>
          </a:p>
        </p:txBody>
      </p:sp>
      <p:pic>
        <p:nvPicPr>
          <p:cNvPr id="4" name="bar_chart" descr="Bar chart: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Key Growth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Internet Users: Grew from 560M (2020) to 900M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UPI Transactions: 8.4 billion monthly transactions in 2025 vs 1.3B…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Smartphone Users: 650M active smartphone users in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Rural E-Commerce: Rural segment now contributes 35% of total orders, up from 18%…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Platform Market Share (2025)</a:t>
            </a:r>
          </a:p>
        </p:txBody>
      </p:sp>
      <p:pic>
        <p:nvPicPr>
          <p:cNvPr id="4" name="pie_chart" descr="Pie chart: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Customer Acquisition Cost vs Lifetime Value</a:t>
            </a:r>
          </a:p>
        </p:txBody>
      </p:sp>
      <p:pic>
        <p:nvPicPr>
          <p:cNvPr id="4" name="bar_chart" descr="Bar chart: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Logistics &amp; Delivery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Average delivery time reduced from 5.2 days (2020) to 1.8…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Same-day delivery available in 42 cities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Return rate: 18% for fashion, 4% for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Last-mile delivery cost: reduced by 34% due to route optimization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Logistics in Tier 3+ cities: Infrastructure gaps remain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High return rates in fashion: Impacts margins significantly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Customer trust: 22% of first-time buyers cite trust as a barrier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Regulatory uncertainty: FDI norms under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Forecast 2026–2028</a:t>
            </a:r>
          </a:p>
        </p:txBody>
      </p:sp>
      <p:pic>
        <p:nvPicPr>
          <p:cNvPr id="4" name="line_chart" descr="Line chart: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61987" y="159791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987" y="159791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6307" y="180365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^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9227" y="162534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Market Size (USD Billion) grew 195% from 2020 to 2025 (38 → 112)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1987" y="242087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1987" y="242087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6307" y="262661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9227" y="244830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Electronics leads with 28% share (28)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987" y="324383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1987" y="324383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6307" y="344957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9227" y="327126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Flipkart (incl. Myntra) leads with 35% share (35)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87" y="406679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1987" y="406679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6307" y="427253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^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9227" y="409422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Projected Market Size (USD B) grew 33% from 2026 to 2028 (128 → 170)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987" y="488975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1987" y="488975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6307" y="509549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9227" y="491718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Sharpest growth occurred 2020→2021 with 42% increase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547207" y="2606040"/>
            <a:ext cx="1097280" cy="457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2880360"/>
            <a:ext cx="112163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03" y="3977639"/>
            <a:ext cx="897308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ABBCC"/>
                </a:solidFill>
                <a:latin typeface="Calibri"/>
              </a:rPr>
              <a:t>Presentation generated from E-Commerce Growth Analysis: India 2020–2025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