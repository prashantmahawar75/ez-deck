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'AI Product Development Lifecycle: From Idea to Production'.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 API (few-shot) leads with 82% share (0.1). Top 2 (GPT-4 API (few-shot) + Fine-tuned LLaMA 7B) control 96% of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Phase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Key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Scoping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Data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data related to Data Quality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Approach Selection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Experimentation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 API (few-shot) leads with 82% share (0.1). Top 2 (GPT-4 API (few-shot) + Fine-tuned LLaMA 7B) control 96% of total. GPT-4 API (few-shot) leads Fine-tuned LLaMA 7B by 500% (0.0 difference).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Evaluation Pyramid.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 Product Development Lifecycle: From Idea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7" y="3977639"/>
            <a:ext cx="1009472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AABBCC"/>
                </a:solidFill>
                <a:latin typeface="Calibri"/>
              </a:rPr>
              <a:t>Building AI products is fundamentally different from traditional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Oval 4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Oval 6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Phase Overview</a:t>
            </a:r>
          </a:p>
        </p:txBody>
      </p:sp>
      <p:sp>
        <p:nvSpPr>
          <p:cNvPr id="9" name="Oval 8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Key Activities</a:t>
            </a:r>
          </a:p>
        </p:txBody>
      </p:sp>
      <p:sp>
        <p:nvSpPr>
          <p:cNvPr id="11" name="Oval 10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Scoping Checklist</a:t>
            </a:r>
          </a:p>
        </p:txBody>
      </p:sp>
      <p:sp>
        <p:nvSpPr>
          <p:cNvPr id="13" name="Oval 12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15" name="Oval 14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Data Quality Dimensions</a:t>
            </a:r>
          </a:p>
        </p:txBody>
      </p:sp>
      <p:sp>
        <p:nvSpPr>
          <p:cNvPr id="17" name="Oval 16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Common Pitfalls</a:t>
            </a:r>
          </a:p>
        </p:txBody>
      </p:sp>
      <p:sp>
        <p:nvSpPr>
          <p:cNvPr id="19" name="Oval 18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Approach Selection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1987" y="1689354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307" y="164363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GPT-4 API (few-shot) leads with 82% share (0.1)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987" y="237515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232943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Top 2 (GPT-4 API (few-shot) + Fine-tuned LLaMA 7B) control 96% of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06095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01523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GPT-4 API (few-shot) leads Fine-tuned LLaMA 7B by 500% (0.0 difference)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374675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370103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Custom CNN represents only 1% — smallest segment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Problem Definition &amp; Scoping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Data Strategy &amp;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Model Research &amp; Experimentation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Evaluation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87" y="461543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87" y="53926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Monitoring &amp; Iteration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Key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Define business objective and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Assess feasibility: data availability, compute budget,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Map AI solution to user need (not the other way…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Identify risks: bias, hallucination, regulatory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Scoping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Is the problem well-defined and measurable?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Is there sufficient labeled data or a path to get…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What is the minimum viable accuracy for production?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Who are the stakeholders and what are their constraints?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Internal databases and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Third-party licensed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Synthetic data generation (for low-resource 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Human annotation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Data Quality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390"/>
                <a:gridCol w="5608179"/>
                <a:gridCol w="301978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 missing critical fields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&gt;95%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Labels are correct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&gt;98%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 contradictory records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&gt;99%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Timeliness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Data is recent enough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Case-by-case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Sufficient for model type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10K–1M samples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Label leakage from future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Class imbalance (handle via oversampling/weighted loss)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Distribution shift between train and 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Approach Selection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YES: Fine-tune or prompt-engineer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NO: Train from scratch or adapt closest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Experimentation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6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Baseline model (simplest possible)</a:t>
            </a:r>
          </a:p>
        </p:txBody>
      </p:sp>
      <p:sp>
        <p:nvSpPr>
          <p:cNvPr id="5" name="Oval 4"/>
          <p:cNvSpPr/>
          <p:nvPr/>
        </p:nvSpPr>
        <p:spPr>
          <a:xfrm>
            <a:off x="152623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885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605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Ablation studies (add one component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at a time)</a:t>
            </a:r>
          </a:p>
        </p:txBody>
      </p:sp>
      <p:sp>
        <p:nvSpPr>
          <p:cNvPr id="8" name="Oval 7"/>
          <p:cNvSpPr/>
          <p:nvPr/>
        </p:nvSpPr>
        <p:spPr>
          <a:xfrm>
            <a:off x="444462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6724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444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Hyperparameter tuning (Optuna /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Ray Tune)</a:t>
            </a:r>
          </a:p>
        </p:txBody>
      </p:sp>
      <p:sp>
        <p:nvSpPr>
          <p:cNvPr id="11" name="Oval 10"/>
          <p:cNvSpPr/>
          <p:nvPr/>
        </p:nvSpPr>
        <p:spPr>
          <a:xfrm>
            <a:off x="736301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85637" y="3856481"/>
            <a:ext cx="27432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42837" y="2102662"/>
            <a:ext cx="2461189" cy="3653942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Ensemble or distillation if needed</a:t>
            </a:r>
          </a:p>
        </p:txBody>
      </p:sp>
      <p:sp>
        <p:nvSpPr>
          <p:cNvPr id="14" name="Oval 13"/>
          <p:cNvSpPr/>
          <p:nvPr/>
        </p:nvSpPr>
        <p:spPr>
          <a:xfrm>
            <a:off x="10281408" y="191063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Compute Cost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2743200"/>
            <a:ext cx="97533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3333"/>
                </a:solidFill>
                <a:latin typeface="Calibri"/>
              </a:rPr>
              <a:t>[!] Chart rendering failed: need at least one array to concatenate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Evaluation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Unit Tests: Individual functions, tokenizers, preprocessors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Model Tests: Accuracy, F1, BLEU, ROUGE on held-out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Behavioral Tests: Edge cases, adversarial inputs, bias probes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Human Eval: Blind comparison with baseline (critical for generative AI)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GPT-4 API (few-shot) leads with 82% share (0.1)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Top 2 (GPT-4 API (few-shot) + Fine-tuned LLaMA 7B) control 96% of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GPT-4 API (few-shot) leads Fine-tuned LLaMA 7B by 500% (0.0 difference)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Custom CNN represents only 1% — smallest segment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547207" y="2606040"/>
            <a:ext cx="109728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288036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03" y="3977639"/>
            <a:ext cx="897308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ABBCC"/>
                </a:solidFill>
                <a:latin typeface="Calibri"/>
              </a:rPr>
              <a:t>Presentation generated from AI Product Development Lifecycle: From Idea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