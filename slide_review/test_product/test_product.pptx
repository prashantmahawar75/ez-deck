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NovaMind AI Platform and its strategic importance for enterprise AI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agenda for the product launch strategy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key insights and metrics from the product launch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market opportunity for enterprise AI across key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pricing tiers and their respective monthly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the measurable improvements achieved with NovaMind.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core components of the NovaMind AI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four-phase implementation process for NovaMind.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NovaMind with OpenAI Enterprise across key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Visualize the market share distribution across pricing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 the key target segments for NovaMind.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planned launch activities for NovaMind.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minimum and recommended infrastructure requirements for NovaMind.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risk mitigation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risk mitigation plan for NovaMind.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takeaways from the product launch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87667" y="1920240"/>
            <a:ext cx="73152" cy="24003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87" y="1714500"/>
            <a:ext cx="10759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NovaMind AI Platform: Product Launch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Vision Statement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1996331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1996331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Market Opportunity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34902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349028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System Components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2701725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2701725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Implementation Phases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3054422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3054422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Competitive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3407119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3407119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Pricing Model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3759816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3759816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Customer Outcomes</a:t>
            </a:r>
          </a:p>
        </p:txBody>
      </p:sp>
      <p:sp>
        <p:nvSpPr>
          <p:cNvPr id="18" name="Oval 17"/>
          <p:cNvSpPr/>
          <p:nvPr/>
        </p:nvSpPr>
        <p:spPr>
          <a:xfrm>
            <a:off x="670547" y="411251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8915" y="411251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Platform Performance</a:t>
            </a:r>
          </a:p>
        </p:txBody>
      </p:sp>
      <p:sp>
        <p:nvSpPr>
          <p:cNvPr id="20" name="Oval 19"/>
          <p:cNvSpPr/>
          <p:nvPr/>
        </p:nvSpPr>
        <p:spPr>
          <a:xfrm>
            <a:off x="670547" y="4465211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8915" y="4465211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Target Segments</a:t>
            </a:r>
          </a:p>
        </p:txBody>
      </p:sp>
      <p:sp>
        <p:nvSpPr>
          <p:cNvPr id="22" name="Oval 21"/>
          <p:cNvSpPr/>
          <p:nvPr/>
        </p:nvSpPr>
        <p:spPr>
          <a:xfrm>
            <a:off x="670547" y="481790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8915" y="4817908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Launch Activities</a:t>
            </a:r>
          </a:p>
        </p:txBody>
      </p:sp>
      <p:sp>
        <p:nvSpPr>
          <p:cNvPr id="24" name="Oval 23"/>
          <p:cNvSpPr/>
          <p:nvPr/>
        </p:nvSpPr>
        <p:spPr>
          <a:xfrm>
            <a:off x="670547" y="5170605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8915" y="5170605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Infrastructure Requirements</a:t>
            </a:r>
          </a:p>
        </p:txBody>
      </p:sp>
      <p:sp>
        <p:nvSpPr>
          <p:cNvPr id="26" name="Oval 25"/>
          <p:cNvSpPr/>
          <p:nvPr/>
        </p:nvSpPr>
        <p:spPr>
          <a:xfrm>
            <a:off x="670547" y="5523302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8915" y="5523302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Risk Mitigation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70547" y="5875999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8915" y="5875999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Conclusion</a:t>
            </a:r>
          </a:p>
        </p:txBody>
      </p:sp>
      <p:sp>
        <p:nvSpPr>
          <p:cNvPr id="30" name="Oval 29"/>
          <p:cNvSpPr/>
          <p:nvPr/>
        </p:nvSpPr>
        <p:spPr>
          <a:xfrm>
            <a:off x="670547" y="6228696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8915" y="6228696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369313"/>
            <a:ext cx="56081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4F81BD"/>
                </a:solidFill>
                <a:latin typeface="Calibri"/>
              </a:rPr>
              <a:t>$5,000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7" y="2558034"/>
            <a:ext cx="56081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99999"/>
                </a:solidFill>
                <a:latin typeface="Calibri"/>
              </a:rPr>
              <a:t>KEY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87" y="2923794"/>
            <a:ext cx="4486543" cy="3657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7" y="32438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07" y="31981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Document Processing leads with 24% share (41.2)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7" y="39296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07" y="38839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Enterprise leads Professional by 300% (7.5K difference)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7" y="46154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07" y="456971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2 (Enterprise + Professional) control 96% of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987" y="53012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307" y="525551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System uptime leads in Platform Performance at 100.0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695194"/>
          <a:ext cx="112163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4273"/>
                <a:gridCol w="2147813"/>
                <a:gridCol w="3341043"/>
                <a:gridCol w="119322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2025 Size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2028 Projected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CAGR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Conversational AI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$18.4B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$42.1B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31.8%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Process Automation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$15.2B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$38.7B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36.4%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Analytics &amp; BI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$22.8B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$51.3B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30.9%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Document Processing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$8.6B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$24.2B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41.2%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Total Addressable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$65.0B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$156.3B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34.1%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7667" y="1460754"/>
            <a:ext cx="53338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" y="1963674"/>
            <a:ext cx="533385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2100834"/>
            <a:ext cx="533385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Starter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Professional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Enterprise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Custom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460754"/>
            <a:ext cx="53338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Monthly 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1963674"/>
            <a:ext cx="533385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2100834"/>
            <a:ext cx="533385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$499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$2,499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$9,999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Contact 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Customer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7667" y="1460754"/>
            <a:ext cx="53338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" y="1963674"/>
            <a:ext cx="533385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2100834"/>
            <a:ext cx="533385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Support ticket resolution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Document processing time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Customer satisfaction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Employee 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460754"/>
            <a:ext cx="53338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Improvement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1963674"/>
            <a:ext cx="533385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2100834"/>
            <a:ext cx="533385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95% faster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93% faster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+21%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34% gain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NovaMind Core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NovaMind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NovaMind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NovaMind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Implementation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67" y="2102662"/>
            <a:ext cx="2461189" cy="365394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Foundation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Environment setup and configuration</a:t>
            </a:r>
          </a:p>
        </p:txBody>
      </p:sp>
      <p:sp>
        <p:nvSpPr>
          <p:cNvPr id="4" name="Oval 3"/>
          <p:cNvSpPr/>
          <p:nvPr/>
        </p:nvSpPr>
        <p:spPr>
          <a:xfrm>
            <a:off x="1526238" y="191063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48857" y="3856481"/>
            <a:ext cx="27432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6057" y="2102662"/>
            <a:ext cx="2461189" cy="365394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Integration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Connect existing systems</a:t>
            </a:r>
          </a:p>
        </p:txBody>
      </p:sp>
      <p:sp>
        <p:nvSpPr>
          <p:cNvPr id="7" name="Oval 6"/>
          <p:cNvSpPr/>
          <p:nvPr/>
        </p:nvSpPr>
        <p:spPr>
          <a:xfrm>
            <a:off x="4444628" y="191063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7247" y="3856481"/>
            <a:ext cx="27432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447" y="2102662"/>
            <a:ext cx="2461189" cy="365394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Expansion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Department-wide rollout</a:t>
            </a:r>
          </a:p>
        </p:txBody>
      </p:sp>
      <p:sp>
        <p:nvSpPr>
          <p:cNvPr id="10" name="Oval 9"/>
          <p:cNvSpPr/>
          <p:nvPr/>
        </p:nvSpPr>
        <p:spPr>
          <a:xfrm>
            <a:off x="7363018" y="191063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85637" y="3856481"/>
            <a:ext cx="27432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42837" y="2102662"/>
            <a:ext cx="2461189" cy="365394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Optimization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Fine-tune models with company data</a:t>
            </a:r>
          </a:p>
        </p:txBody>
      </p:sp>
      <p:sp>
        <p:nvSpPr>
          <p:cNvPr id="13" name="Oval 12"/>
          <p:cNvSpPr/>
          <p:nvPr/>
        </p:nvSpPr>
        <p:spPr>
          <a:xfrm>
            <a:off x="10281408" y="191063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Competitive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87667" y="1460754"/>
            <a:ext cx="4486543" cy="54864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NovaMind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17483" y="1460754"/>
            <a:ext cx="4486543" cy="548640"/>
          </a:xfrm>
          <a:prstGeom prst="roundRect">
            <a:avLst/>
          </a:prstGeom>
          <a:solidFill>
            <a:srgbClr val="5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OpenAI Enterprise</a:t>
            </a:r>
          </a:p>
        </p:txBody>
      </p:sp>
      <p:sp>
        <p:nvSpPr>
          <p:cNvPr id="7" name="Oval 6"/>
          <p:cNvSpPr/>
          <p:nvPr/>
        </p:nvSpPr>
        <p:spPr>
          <a:xfrm>
            <a:off x="5821527" y="1460754"/>
            <a:ext cx="548640" cy="54864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67" y="2146553"/>
            <a:ext cx="4486543" cy="640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40% lower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7363" y="2183129"/>
            <a:ext cx="2096967" cy="566928"/>
          </a:xfrm>
          <a:prstGeom prst="roundRect">
            <a:avLst/>
          </a:prstGeom>
          <a:solidFill>
            <a:srgbClr val="FBFCFD"/>
          </a:solidFill>
          <a:ln w="12700"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81BD"/>
                </a:solidFill>
                <a:latin typeface="Calibri"/>
              </a:rPr>
              <a:t>Inference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17483" y="2146553"/>
            <a:ext cx="4486543" cy="640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N/A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667" y="2859785"/>
            <a:ext cx="4486543" cy="640080"/>
          </a:xfrm>
          <a:prstGeom prst="roundRect">
            <a:avLst/>
          </a:prstGeom>
          <a:solidFill>
            <a:srgbClr val="E8ECF1"/>
          </a:solidFill>
          <a:ln w="15240"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On-premise option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363" y="2896361"/>
            <a:ext cx="2096967" cy="566928"/>
          </a:xfrm>
          <a:prstGeom prst="roundRect">
            <a:avLst/>
          </a:prstGeom>
          <a:solidFill>
            <a:srgbClr val="FBFCFD"/>
          </a:solidFill>
          <a:ln w="12700"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81BD"/>
                </a:solidFill>
                <a:latin typeface="Calibri"/>
              </a:rPr>
              <a:t>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17483" y="2859785"/>
            <a:ext cx="4486543" cy="640080"/>
          </a:xfrm>
          <a:prstGeom prst="roundRect">
            <a:avLst/>
          </a:prstGeom>
          <a:solidFill>
            <a:srgbClr val="E8ECF1"/>
          </a:solidFill>
          <a:ln w="15240"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Cloud-only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67" y="3573018"/>
            <a:ext cx="4486543" cy="640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Industry-specific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363" y="3609594"/>
            <a:ext cx="2096967" cy="566928"/>
          </a:xfrm>
          <a:prstGeom prst="roundRect">
            <a:avLst/>
          </a:prstGeom>
          <a:solidFill>
            <a:srgbClr val="FBFCFD"/>
          </a:solidFill>
          <a:ln w="12700"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81BD"/>
                </a:solidFill>
                <a:latin typeface="Calibri"/>
              </a:rPr>
              <a:t>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7483" y="3573018"/>
            <a:ext cx="4486543" cy="640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General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67" y="4286250"/>
            <a:ext cx="4486543" cy="640080"/>
          </a:xfrm>
          <a:prstGeom prst="roundRect">
            <a:avLst/>
          </a:prstGeom>
          <a:solidFill>
            <a:srgbClr val="E8ECF1"/>
          </a:solidFill>
          <a:ln w="15240"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24/7 dedicated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363" y="4322826"/>
            <a:ext cx="2096967" cy="566928"/>
          </a:xfrm>
          <a:prstGeom prst="roundRect">
            <a:avLst/>
          </a:prstGeom>
          <a:solidFill>
            <a:srgbClr val="FBFCFD"/>
          </a:solidFill>
          <a:ln w="12700"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81BD"/>
                </a:solidFill>
                <a:latin typeface="Calibri"/>
              </a:rPr>
              <a:t>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17483" y="4286250"/>
            <a:ext cx="4486543" cy="640080"/>
          </a:xfrm>
          <a:prstGeom prst="roundRect">
            <a:avLst/>
          </a:prstGeom>
          <a:solidFill>
            <a:srgbClr val="E8ECF1"/>
          </a:solidFill>
          <a:ln w="15240"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Standard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Market Share by Tier</a:t>
            </a:r>
          </a:p>
        </p:txBody>
      </p:sp>
      <p:pic>
        <p:nvPicPr>
          <p:cNvPr id="3" name="bar_chart" descr="Bar chart: Market Share by Ti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Target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Financial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Manufacturing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Launch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Industry analyst briefings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Press release and media outreach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Customer webinar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Partner certification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87" y="461543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Conference presence at AI Summit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Infrastructure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900933"/>
          <a:ext cx="1121635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3012"/>
                <a:gridCol w="5903347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Minimum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Recommended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8 vCPUs, 32GB RAM per node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16 vCPUs, 64GB RAM per node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500GB SSD storage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2TB NVMe storage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 Gbps network connectivity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10 Gbps network connectivity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Kubernetes 1.28+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GPU acceleration (NVIDIA A100)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7667" y="1920240"/>
            <a:ext cx="112163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F81BD"/>
                </a:solidFill>
                <a:latin typeface="Calibri"/>
              </a:rPr>
              <a:t>SECTION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7207" y="2606040"/>
            <a:ext cx="109728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288036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Risk Mitigation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695194"/>
          <a:ext cx="112163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326"/>
                <a:gridCol w="1690136"/>
                <a:gridCol w="1229190"/>
                <a:gridCol w="537770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Probability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Data breach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Zero-trust architecture, encryption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Model hallucination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Human-in-loop validation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Integration failure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Comprehensive testing, rollback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Adoption resistance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Change management, training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Cost overrun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Usage alerts, budget limits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61987" y="159791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87" y="159791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307" y="180365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^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9227" y="162534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$156B market opportunity by 2028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7" y="242087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87" y="242087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6307" y="262661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9227" y="244830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4-phase implementation in 16 weeks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7" y="324383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7" y="324383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6307" y="344957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227" y="327126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95% faster task completion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87" y="406679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987" y="406679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307" y="427253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9227" y="409422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Enterprise-grade security built-in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987" y="488975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1987" y="488975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6307" y="509549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9227" y="491718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Flexible pricing for all company sizes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