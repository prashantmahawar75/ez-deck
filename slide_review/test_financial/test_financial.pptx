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Q4 2025 Financial Performance Report. This presentation will cover our key financial results, strategic initiatives, and future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agenda outlines the key sections of our Q4 2025 financial performance report, including our strategic highlights and future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TechVista delivered exceptional results in Q4 2025, with revenue growing 34% YoY to $2.8 billion. Key highlights include strong enterprise adoption, international expansion, and improved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shows the revenue breakdown by segment for Q4 2025, highlighting the growth of each segment compared to the previous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outlines the regional performance for Q4 2025, showing revenue, YoY growth, and market share across different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acquisition metrics show strong performance, with a 18% reduction in cost and a 22% increase in average contract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performance metrics highlight our robust infrastructure, with high uptime, fast response times, and massive data processing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provides an overview of expense categories and their percentage of total revenue, showing the allocation of our operating expenses.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line chart shows the profitability trends across quarters, highlighting the improvement in gross, operating, net, and EBITDA margins.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platform launch has achieved significant milestones, with strong customer satisfaction and a growing number of use cases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International expansion has accelerated, with new offices opened and a significant increase in headcount and localized product offerings.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innovation has driven new features and capabilities, including the launch of Analytics Pro and the deployment of edge computing.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outlines our 2026 guidance, showing projected revenue, operating income, EPS, and free cash flow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risks to monitor include increased competition, regulatory changes, currency fluctuations, talent acquisition challenges, and supply chain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takeaways include record revenue, strong cloud growth, accelerated international expansion, continued AI investment, and positive guidance for FY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87667" y="1920240"/>
            <a:ext cx="73152" cy="24003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87" y="1714500"/>
            <a:ext cx="10759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Q4 2025 Financial Performance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1996331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1996331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Revenue Breakdown by Segment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34902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349028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Regional Performance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2701725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2701725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Customer Acquisition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3054422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3054422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Platform Performance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3407119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3407119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Expense Analysis</a:t>
            </a:r>
          </a:p>
        </p:txBody>
      </p:sp>
      <p:sp>
        <p:nvSpPr>
          <p:cNvPr id="16" name="Oval 15"/>
          <p:cNvSpPr/>
          <p:nvPr/>
        </p:nvSpPr>
        <p:spPr>
          <a:xfrm>
            <a:off x="670547" y="3759816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8915" y="3759816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Profitability Trends</a:t>
            </a:r>
          </a:p>
        </p:txBody>
      </p:sp>
      <p:sp>
        <p:nvSpPr>
          <p:cNvPr id="18" name="Oval 17"/>
          <p:cNvSpPr/>
          <p:nvPr/>
        </p:nvSpPr>
        <p:spPr>
          <a:xfrm>
            <a:off x="670547" y="411251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8915" y="411251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AI Platform Launch</a:t>
            </a:r>
          </a:p>
        </p:txBody>
      </p:sp>
      <p:sp>
        <p:nvSpPr>
          <p:cNvPr id="20" name="Oval 19"/>
          <p:cNvSpPr/>
          <p:nvPr/>
        </p:nvSpPr>
        <p:spPr>
          <a:xfrm>
            <a:off x="670547" y="4465211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8915" y="4465211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International Expansion</a:t>
            </a:r>
          </a:p>
        </p:txBody>
      </p:sp>
      <p:sp>
        <p:nvSpPr>
          <p:cNvPr id="22" name="Oval 21"/>
          <p:cNvSpPr/>
          <p:nvPr/>
        </p:nvSpPr>
        <p:spPr>
          <a:xfrm>
            <a:off x="670547" y="4817908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8915" y="4817908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Product Innovation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70547" y="5170605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8915" y="5170605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2026 Guidance</a:t>
            </a:r>
          </a:p>
        </p:txBody>
      </p:sp>
      <p:sp>
        <p:nvSpPr>
          <p:cNvPr id="26" name="Oval 25"/>
          <p:cNvSpPr/>
          <p:nvPr/>
        </p:nvSpPr>
        <p:spPr>
          <a:xfrm>
            <a:off x="670547" y="5523302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8915" y="5523302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Risk Factors</a:t>
            </a:r>
          </a:p>
        </p:txBody>
      </p:sp>
      <p:sp>
        <p:nvSpPr>
          <p:cNvPr id="28" name="Oval 27"/>
          <p:cNvSpPr/>
          <p:nvPr/>
        </p:nvSpPr>
        <p:spPr>
          <a:xfrm>
            <a:off x="670547" y="5875999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8915" y="5875999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Conclusion</a:t>
            </a:r>
          </a:p>
        </p:txBody>
      </p:sp>
      <p:sp>
        <p:nvSpPr>
          <p:cNvPr id="30" name="Oval 29"/>
          <p:cNvSpPr/>
          <p:nvPr/>
        </p:nvSpPr>
        <p:spPr>
          <a:xfrm>
            <a:off x="670547" y="6228696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8915" y="6228696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369313"/>
            <a:ext cx="56081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4F81BD"/>
                </a:solidFill>
                <a:latin typeface="Calibri"/>
              </a:rPr>
              <a:t>$2.8 billion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7" y="2558034"/>
            <a:ext cx="56081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99999"/>
                </a:solidFill>
                <a:latin typeface="Calibri"/>
              </a:rPr>
              <a:t>KEY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87" y="2923794"/>
            <a:ext cx="4486543" cy="3657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7" y="32438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07" y="319811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Cloud Services leads with 39% share (58)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987" y="39296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07" y="388391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Top 2 (Cloud Services + Total) control 63% of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987" y="46154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07" y="456971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Cloud Services leads Total by 71% (24 difference)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987" y="53012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6307" y="525551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Middle East &amp; Africa outperforms North America by 3.2x (89 vs 28)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Revenue Breakdown by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695194"/>
          <a:ext cx="112163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4964"/>
                <a:gridCol w="1914988"/>
                <a:gridCol w="1914988"/>
                <a:gridCol w="164141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Q4 2025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Q4 2024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Cloud Services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$1,200M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$759M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+58%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Enterprise Software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$890M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$720M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+24%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Professional Services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$450M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$380M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+18%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$260M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$230M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+13%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$2,800M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$2,089M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+34%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695194"/>
          <a:ext cx="1121635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8105"/>
                <a:gridCol w="1602337"/>
                <a:gridCol w="2289052"/>
                <a:gridCol w="2746863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YoY Growth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Market Share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North America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$1,540M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+28%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Europe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$672M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+41%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12.7%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Asia Pacific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$420M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+52%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Latin America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$112M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+67%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Middle East &amp; Africa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$56M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+89%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Customer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New enterprise logos: 2,340 (Q4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Customer acquisition cost: $12,400 (down 18%)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Average contract value: $285,000 (up 22%)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Net revenue retention: 124%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Platform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System uptime: 99.97%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Average response time: 42ms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Data processed: 15.8 petabytes/day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API calls: 4.2 billion/day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Expense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695194"/>
          <a:ext cx="112163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607"/>
                <a:gridCol w="2122013"/>
                <a:gridCol w="363773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% of Revenue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Cost of Revenue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$980M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R&amp;D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$560M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Sales &amp; Marketing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$392M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General &amp; Admin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$168M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Operating Expenses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$2,100M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Profitability Trends</a:t>
            </a:r>
          </a:p>
        </p:txBody>
      </p:sp>
      <p:pic>
        <p:nvPicPr>
          <p:cNvPr id="3" name="line_chart" descr="Line chart: Profitability Tren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AI Platform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Beta customers: 450 enterprises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Revenue contribution: $45M (pilot phase)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Customer satisfaction: 4.6/5.0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Use cases deployed: 1,200+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International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New offices opened: Tokyo, Singapore, Dubai, São Paulo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International headcount: 2,800 employees (up 45%)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Localized products: 12 languages 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Partner ecosystem: 340 certified partners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Product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Launched TechVista Analytics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Released mobile SDK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Introduced zero-trust security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Deployed edge computing capabilities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2026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900933"/>
          <a:ext cx="11216357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038"/>
                <a:gridCol w="1744767"/>
                <a:gridCol w="3988038"/>
                <a:gridCol w="149551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FY 2025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FY 2026 Guidance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$9.8B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$12.5B - $13.0B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28-33%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Operating Income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$2.2B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$3.0B - $3.2B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36-45%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EPS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$8.45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$11.00 - $11.50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30-36%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Free Cash Flow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$2.1B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$2.8B - $3.0B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33-43%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Increased competition in cloud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Regulatory changes in international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Currency fluctuation impact (5-7% revenue exposure)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Talent acquisition in AI/ML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87" y="461543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Supply chain dependencies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61987" y="159791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987" y="159791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6307" y="180365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^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9227" y="162534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Record quarterly revenue of $2.8B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7" y="242087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87" y="242087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6307" y="262661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^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9227" y="244830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Cloud services driving 43% of total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7" y="324383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7" y="324383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6307" y="344957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9227" y="327126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International expansion accelerating (40%+ growth)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987" y="406679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1987" y="406679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6307" y="427253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9227" y="409422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Continued investment in AI capabilities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987" y="488975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1987" y="488975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6307" y="509549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^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9227" y="491718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Strong guidance for FY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