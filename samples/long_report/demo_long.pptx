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presentation covers the key points from the document 'Q3 2025 Performance Report'.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what we will cover in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summarizes the key insights from the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statistics from Revenue Overview.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statistics from Key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 of Product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 of Platform 3.0 Launch.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statistics from AI Features Beta.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Bar chart showing Market Position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statistics from Financial Outlook.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statistics from Team Growth.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points about Strategic Priorities for Q4.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table shows data related to Risks and Mitigations.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top takeaways from our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Calibri"/>
              </a:rPr>
              <a:t>Q3 2025 Performance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Calibri"/>
              </a:rPr>
              <a:t>A 373-word document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670547" y="164363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8915" y="164363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Revenue Overview</a:t>
            </a:r>
          </a:p>
        </p:txBody>
      </p:sp>
      <p:sp>
        <p:nvSpPr>
          <p:cNvPr id="6" name="Oval 5"/>
          <p:cNvSpPr/>
          <p:nvPr/>
        </p:nvSpPr>
        <p:spPr>
          <a:xfrm>
            <a:off x="670547" y="223799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8915" y="223799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Key Metrics</a:t>
            </a:r>
          </a:p>
        </p:txBody>
      </p:sp>
      <p:sp>
        <p:nvSpPr>
          <p:cNvPr id="8" name="Oval 7"/>
          <p:cNvSpPr/>
          <p:nvPr/>
        </p:nvSpPr>
        <p:spPr>
          <a:xfrm>
            <a:off x="670547" y="283235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8915" y="283235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Product Development</a:t>
            </a:r>
          </a:p>
        </p:txBody>
      </p:sp>
      <p:sp>
        <p:nvSpPr>
          <p:cNvPr id="10" name="Oval 9"/>
          <p:cNvSpPr/>
          <p:nvPr/>
        </p:nvSpPr>
        <p:spPr>
          <a:xfrm>
            <a:off x="670547" y="342671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8915" y="342671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Platform 3.0 Launch</a:t>
            </a:r>
          </a:p>
        </p:txBody>
      </p:sp>
      <p:sp>
        <p:nvSpPr>
          <p:cNvPr id="12" name="Oval 11"/>
          <p:cNvSpPr/>
          <p:nvPr/>
        </p:nvSpPr>
        <p:spPr>
          <a:xfrm>
            <a:off x="670547" y="402107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8915" y="402107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AI Features Beta</a:t>
            </a:r>
          </a:p>
        </p:txBody>
      </p:sp>
      <p:sp>
        <p:nvSpPr>
          <p:cNvPr id="14" name="Oval 13"/>
          <p:cNvSpPr/>
          <p:nvPr/>
        </p:nvSpPr>
        <p:spPr>
          <a:xfrm>
            <a:off x="670547" y="4615433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8915" y="4615433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Market Position</a:t>
            </a:r>
          </a:p>
        </p:txBody>
      </p:sp>
      <p:sp>
        <p:nvSpPr>
          <p:cNvPr id="16" name="Oval 15"/>
          <p:cNvSpPr/>
          <p:nvPr/>
        </p:nvSpPr>
        <p:spPr>
          <a:xfrm>
            <a:off x="670547" y="520979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8915" y="520979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Financial Outlook</a:t>
            </a:r>
          </a:p>
        </p:txBody>
      </p:sp>
      <p:sp>
        <p:nvSpPr>
          <p:cNvPr id="18" name="Oval 17"/>
          <p:cNvSpPr/>
          <p:nvPr/>
        </p:nvSpPr>
        <p:spPr>
          <a:xfrm>
            <a:off x="670547" y="580415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8915" y="580415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Team Growth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1987" y="1460754"/>
            <a:ext cx="10667719" cy="34564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333333"/>
                </a:solidFill>
                <a:latin typeface="Calibri"/>
              </a:rPr>
              <a:t>Total revenue for Q3 2025 reached $4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333333"/>
                </a:solidFill>
                <a:latin typeface="Calibri"/>
              </a:rPr>
              <a:t>Our customer base expanded significantly this quarter:
Active customers: 1,247 (up from 1,089 in Q2) Net Revenue Retenti...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333333"/>
                </a:solidFill>
                <a:latin typeface="Calibri"/>
              </a:rPr>
              <a:t>The engineering team shipped three major releases this quarter</a:t>
            </a:r>
          </a:p>
          <a:p>
            <a:pPr>
              <a:spcBef>
                <a:spcPts val="800"/>
              </a:spcBef>
              <a:spcAft>
                <a:spcPts val="800"/>
              </a:spcAft>
            </a:pPr>
            <a:r>
              <a:rPr sz="1800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333333"/>
                </a:solidFill>
                <a:latin typeface="Calibri"/>
              </a:rPr>
              <a:t>The new platform architecture reduces page load times by 45% and supportsreal-time collaboration for up to 50 concurrent...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30939" y="5164074"/>
            <a:ext cx="6729815" cy="640080"/>
          </a:xfrm>
          <a:prstGeom prst="round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Key Metric: $4.2M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Revenue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1609303" y="1460754"/>
            <a:ext cx="8973087" cy="274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67" y="1826514"/>
            <a:ext cx="373878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4F81BD"/>
                </a:solidFill>
                <a:latin typeface="Calibri"/>
              </a:rPr>
              <a:t>$4.2M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67" y="3015234"/>
            <a:ext cx="37387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Calibri"/>
              </a:rPr>
              <a:t>Currency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6454" y="1826514"/>
            <a:ext cx="373878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4F81BD"/>
                </a:solidFill>
                <a:latin typeface="Calibri"/>
              </a:rPr>
              <a:t>23%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26454" y="3015234"/>
            <a:ext cx="37387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Calibri"/>
              </a:rPr>
              <a:t>Percentage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65240" y="1826514"/>
            <a:ext cx="373878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4F81BD"/>
                </a:solidFill>
                <a:latin typeface="Calibri"/>
              </a:rPr>
              <a:t>68%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5240" y="3015234"/>
            <a:ext cx="37387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Calibri"/>
              </a:rPr>
              <a:t>Percentage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Key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1609303" y="1460754"/>
            <a:ext cx="8973087" cy="274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67" y="1826514"/>
            <a:ext cx="373878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4F81BD"/>
                </a:solidFill>
                <a:latin typeface="Calibri"/>
              </a:rPr>
              <a:t>$42,500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67" y="3015234"/>
            <a:ext cx="37387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Calibri"/>
              </a:rPr>
              <a:t>Currency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6454" y="1826514"/>
            <a:ext cx="373878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4F81BD"/>
                </a:solidFill>
                <a:latin typeface="Calibri"/>
              </a:rPr>
              <a:t>118%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26454" y="3015234"/>
            <a:ext cx="37387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Calibri"/>
              </a:rPr>
              <a:t>Percentage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65240" y="1826514"/>
            <a:ext cx="373878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4F81BD"/>
                </a:solidFill>
                <a:latin typeface="Calibri"/>
              </a:rPr>
              <a:t>1.2%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5240" y="3015234"/>
            <a:ext cx="37387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Calibri"/>
              </a:rPr>
              <a:t>Percentage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Product Development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The engineering team shipped three major releases this quarter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Platform 3.0 Launch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The new platform architecture reduces page load times by 45% and supportsreal-ti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AI Features Beta</a:t>
            </a:r>
          </a:p>
        </p:txBody>
      </p:sp>
      <p:sp>
        <p:nvSpPr>
          <p:cNvPr id="3" name="Rectangle 2"/>
          <p:cNvSpPr/>
          <p:nvPr/>
        </p:nvSpPr>
        <p:spPr>
          <a:xfrm>
            <a:off x="1609303" y="1460754"/>
            <a:ext cx="8973087" cy="274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67" y="1826514"/>
            <a:ext cx="373878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4F81BD"/>
                </a:solidFill>
                <a:latin typeface="Calibri"/>
              </a:rPr>
              <a:t>87%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67" y="3015234"/>
            <a:ext cx="37387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Calibri"/>
              </a:rPr>
              <a:t>Percentage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6454" y="1826514"/>
            <a:ext cx="373878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4F81BD"/>
                </a:solidFill>
                <a:latin typeface="Calibri"/>
              </a:rPr>
              <a:t>87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26454" y="3015234"/>
            <a:ext cx="37387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Calibri"/>
              </a:rPr>
              <a:t>Numeric Density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65240" y="1826514"/>
            <a:ext cx="373878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4F81BD"/>
                </a:solidFill>
                <a:latin typeface="Calibri"/>
              </a:rPr>
              <a:t>3.2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5240" y="3015234"/>
            <a:ext cx="37387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Calibri"/>
              </a:rPr>
              <a:t>Numeric Density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Market Position</a:t>
            </a:r>
          </a:p>
        </p:txBody>
      </p:sp>
      <p:pic>
        <p:nvPicPr>
          <p:cNvPr id="3" name="bar_chart" descr="Bar chart: Market Posi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8894" y="1831085"/>
            <a:ext cx="9533905" cy="419709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Financial Outlook</a:t>
            </a:r>
          </a:p>
        </p:txBody>
      </p:sp>
      <p:sp>
        <p:nvSpPr>
          <p:cNvPr id="3" name="Rectangle 2"/>
          <p:cNvSpPr/>
          <p:nvPr/>
        </p:nvSpPr>
        <p:spPr>
          <a:xfrm>
            <a:off x="1609303" y="1460754"/>
            <a:ext cx="8973087" cy="274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67" y="1826514"/>
            <a:ext cx="373878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4F81BD"/>
                </a:solidFill>
                <a:latin typeface="Calibri"/>
              </a:rPr>
              <a:t>$16.5M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67" y="3015234"/>
            <a:ext cx="37387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Calibri"/>
              </a:rPr>
              <a:t>Currency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6454" y="1826514"/>
            <a:ext cx="373878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4F81BD"/>
                </a:solidFill>
                <a:latin typeface="Calibri"/>
              </a:rPr>
              <a:t>$17.2M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26454" y="3015234"/>
            <a:ext cx="37387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Calibri"/>
              </a:rPr>
              <a:t>Currency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65240" y="1826514"/>
            <a:ext cx="373878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4F81BD"/>
                </a:solidFill>
                <a:latin typeface="Calibri"/>
              </a:rPr>
              <a:t>$15.8M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65240" y="3015234"/>
            <a:ext cx="373878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Calibri"/>
              </a:rPr>
              <a:t>Currency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Team Growth</a:t>
            </a:r>
          </a:p>
        </p:txBody>
      </p:sp>
      <p:sp>
        <p:nvSpPr>
          <p:cNvPr id="3" name="Rectangle 2"/>
          <p:cNvSpPr/>
          <p:nvPr/>
        </p:nvSpPr>
        <p:spPr>
          <a:xfrm>
            <a:off x="1609303" y="1460754"/>
            <a:ext cx="8973087" cy="274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87667" y="1826514"/>
            <a:ext cx="56081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4F81BD"/>
                </a:solidFill>
                <a:latin typeface="Calibri"/>
              </a:rPr>
              <a:t>85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667" y="3015234"/>
            <a:ext cx="56081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Calibri"/>
              </a:rPr>
              <a:t>Numeric Density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7" y="1826514"/>
            <a:ext cx="56081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4F81BD"/>
                </a:solidFill>
                <a:latin typeface="Calibri"/>
              </a:rPr>
              <a:t>112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7" y="3015234"/>
            <a:ext cx="56081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33333"/>
                </a:solidFill>
                <a:latin typeface="Calibri"/>
              </a:rPr>
              <a:t>Numeric Density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Strategic Priorities for Q4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Launch AI assistant to general availability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Expand into European market (UK and Germany first)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Achieve SOC 2 Type II certification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800">
                <a:solidFill>
                  <a:srgbClr val="333333"/>
                </a:solidFill>
                <a:latin typeface="Calibri"/>
              </a:rPr>
              <a:t>• Close Series B funding round at $25M target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Risks and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87667" y="2900933"/>
          <a:ext cx="11216356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72898"/>
                <a:gridCol w="1068224"/>
                <a:gridCol w="1958411"/>
                <a:gridCol w="3916823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Probability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73152" marR="73152" marT="73152" marB="73152" anchor="ctr">
                    <a:solidFill>
                      <a:srgbClr val="4F81B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Talent retention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Equity refresh program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Exchange rate volatility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High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Currency hedging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AI regulatory changes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Legal monitoring team</a:t>
                      </a:r>
                    </a:p>
                  </a:txBody>
                  <a:tcPr marL="73152" marR="73152" marT="73152" marB="73152" anchor="ctr">
                    <a:solidFill>
                      <a:srgbClr val="F5F7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Supply chain delays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Low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Medium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33333"/>
                          </a:solidFill>
                          <a:latin typeface="Calibri"/>
                        </a:rPr>
                        <a:t>Dual vendor strategy</a:t>
                      </a:r>
                    </a:p>
                  </a:txBody>
                  <a:tcPr marL="73152" marR="73152" marT="73152" marB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761987" y="164363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2067" y="164363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Total revenue for Q3 2025 reached $4</a:t>
            </a:r>
          </a:p>
        </p:txBody>
      </p:sp>
      <p:sp>
        <p:nvSpPr>
          <p:cNvPr id="6" name="Oval 5"/>
          <p:cNvSpPr/>
          <p:nvPr/>
        </p:nvSpPr>
        <p:spPr>
          <a:xfrm>
            <a:off x="761987" y="237515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2067" y="237515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Our customer base expanded significantly this quarter:</a:t>
            </a:r>
          </a:p>
        </p:txBody>
      </p:sp>
      <p:sp>
        <p:nvSpPr>
          <p:cNvPr id="8" name="Oval 7"/>
          <p:cNvSpPr/>
          <p:nvPr/>
        </p:nvSpPr>
        <p:spPr>
          <a:xfrm>
            <a:off x="761987" y="310667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2067" y="310667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The engineering team shipped three major releases this quarter</a:t>
            </a:r>
          </a:p>
        </p:txBody>
      </p:sp>
      <p:sp>
        <p:nvSpPr>
          <p:cNvPr id="10" name="Oval 9"/>
          <p:cNvSpPr/>
          <p:nvPr/>
        </p:nvSpPr>
        <p:spPr>
          <a:xfrm>
            <a:off x="761987" y="383819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2067" y="383819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The new platform architecture reduces page load times by 45% and supportsreal-ti</a:t>
            </a:r>
          </a:p>
        </p:txBody>
      </p:sp>
      <p:sp>
        <p:nvSpPr>
          <p:cNvPr id="12" name="Oval 11"/>
          <p:cNvSpPr/>
          <p:nvPr/>
        </p:nvSpPr>
        <p:spPr>
          <a:xfrm>
            <a:off x="761987" y="4569714"/>
            <a:ext cx="365760" cy="36576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2067" y="4569714"/>
            <a:ext cx="1002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We launched our AI assistant in beta with 200 early adopters: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