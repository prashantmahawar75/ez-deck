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covers the key points from the document 'Global E-Commerce Market Analysis 2025'.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what we will cover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Asia Pacific leads with 49% share (49.2). Top 2 (Asia Pacific + North America) control 68% of total.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Asia Pacific leads with 49% share (49.2). Top 2 (Asia Pacific + North America) control 68% of total. Asia Pacific leads North America by 159% (30.2 difference).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Top Growth Categories.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AI-Powered Personalization.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Social Commerce.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Augmented Reality Shopping.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Digital Wallets leads in Adoption Rate at 52. Digital Wallets outperforms Cryptocurrency by 13.0x (52 vs 4). Cryptocurrency leads in Avg. Order Value at 285.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Logistics and Fulfillment.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Challenges and Risks.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points about Strategic Recommendations.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the top takeaways from our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487667" y="1920240"/>
            <a:ext cx="73152" cy="24003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1987" y="1714500"/>
            <a:ext cx="10759159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Global E-Commerce Market Analysis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1987" y="3977639"/>
            <a:ext cx="7851451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>
                <a:solidFill>
                  <a:srgbClr val="AABBCC"/>
                </a:solidFill>
                <a:latin typeface="Calibri"/>
              </a:rPr>
              <a:t>A 486-word document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Oval 3"/>
          <p:cNvSpPr/>
          <p:nvPr/>
        </p:nvSpPr>
        <p:spPr>
          <a:xfrm>
            <a:off x="670547" y="164363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8915" y="164363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Executive Overview</a:t>
            </a:r>
          </a:p>
        </p:txBody>
      </p:sp>
      <p:sp>
        <p:nvSpPr>
          <p:cNvPr id="6" name="Oval 5"/>
          <p:cNvSpPr/>
          <p:nvPr/>
        </p:nvSpPr>
        <p:spPr>
          <a:xfrm>
            <a:off x="670547" y="22379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8915" y="22379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Regional Revenue Breakdown</a:t>
            </a:r>
          </a:p>
        </p:txBody>
      </p:sp>
      <p:sp>
        <p:nvSpPr>
          <p:cNvPr id="8" name="Oval 7"/>
          <p:cNvSpPr/>
          <p:nvPr/>
        </p:nvSpPr>
        <p:spPr>
          <a:xfrm>
            <a:off x="670547" y="28323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8915" y="28323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Top Growth Categories</a:t>
            </a:r>
          </a:p>
        </p:txBody>
      </p:sp>
      <p:sp>
        <p:nvSpPr>
          <p:cNvPr id="10" name="Oval 9"/>
          <p:cNvSpPr/>
          <p:nvPr/>
        </p:nvSpPr>
        <p:spPr>
          <a:xfrm>
            <a:off x="670547" y="342671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8915" y="342671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AI-Powered Personalization</a:t>
            </a:r>
          </a:p>
        </p:txBody>
      </p:sp>
      <p:sp>
        <p:nvSpPr>
          <p:cNvPr id="12" name="Oval 11"/>
          <p:cNvSpPr/>
          <p:nvPr/>
        </p:nvSpPr>
        <p:spPr>
          <a:xfrm>
            <a:off x="670547" y="402107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8915" y="402107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Social Commerce</a:t>
            </a:r>
          </a:p>
        </p:txBody>
      </p:sp>
      <p:sp>
        <p:nvSpPr>
          <p:cNvPr id="14" name="Oval 13"/>
          <p:cNvSpPr/>
          <p:nvPr/>
        </p:nvSpPr>
        <p:spPr>
          <a:xfrm>
            <a:off x="670547" y="4615433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8915" y="4615433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Augmented Reality Shopping</a:t>
            </a:r>
          </a:p>
        </p:txBody>
      </p:sp>
      <p:sp>
        <p:nvSpPr>
          <p:cNvPr id="16" name="Oval 15"/>
          <p:cNvSpPr/>
          <p:nvPr/>
        </p:nvSpPr>
        <p:spPr>
          <a:xfrm>
            <a:off x="670547" y="520979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8915" y="520979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Payment Innovation</a:t>
            </a:r>
          </a:p>
        </p:txBody>
      </p:sp>
      <p:sp>
        <p:nvSpPr>
          <p:cNvPr id="18" name="Oval 17"/>
          <p:cNvSpPr/>
          <p:nvPr/>
        </p:nvSpPr>
        <p:spPr>
          <a:xfrm>
            <a:off x="670547" y="5804154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8915" y="5804154"/>
            <a:ext cx="10192231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Logistics and Fulfillment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761987" y="1369313"/>
            <a:ext cx="56081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4F81BD"/>
                </a:solidFill>
                <a:latin typeface="Calibri"/>
              </a:rPr>
              <a:t>$6.3 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1987" y="2558034"/>
            <a:ext cx="56081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999999"/>
                </a:solidFill>
                <a:latin typeface="Calibri"/>
              </a:rPr>
              <a:t>KEY METRIC</a:t>
            </a:r>
          </a:p>
        </p:txBody>
      </p:sp>
      <p:sp>
        <p:nvSpPr>
          <p:cNvPr id="6" name="Rectangle 5"/>
          <p:cNvSpPr/>
          <p:nvPr/>
        </p:nvSpPr>
        <p:spPr>
          <a:xfrm>
            <a:off x="761987" y="2923794"/>
            <a:ext cx="4486543" cy="3657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1987" y="32438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6307" y="31981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Asia Pacific leads with 49% share (49.2)</a:t>
            </a:r>
          </a:p>
        </p:txBody>
      </p:sp>
      <p:sp>
        <p:nvSpPr>
          <p:cNvPr id="9" name="Rectangle 8"/>
          <p:cNvSpPr/>
          <p:nvPr/>
        </p:nvSpPr>
        <p:spPr>
          <a:xfrm>
            <a:off x="761987" y="39296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6307" y="3883913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Top 2 (Asia Pacific + North America) control 68% of total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1987" y="46154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6307" y="456971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Asia Pacific leads North America by 159% (30.2 difference)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1987" y="5301233"/>
            <a:ext cx="54864" cy="5486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6307" y="5255514"/>
            <a:ext cx="1030195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>
                <a:solidFill>
                  <a:srgbClr val="333333"/>
                </a:solidFill>
                <a:latin typeface="Calibri"/>
              </a:rPr>
              <a:t>Middle East &amp; Africa outperforms North America by 3.5x (28.7 vs 8.2)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Regional Revenue Breakdown</a:t>
            </a:r>
          </a:p>
        </p:txBody>
      </p:sp>
      <p:pic>
        <p:nvPicPr>
          <p:cNvPr id="3" name="bar_chart" descr="Bar chart: Regional Revenue Breakdow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Top Growth Categories</a:t>
            </a:r>
          </a:p>
        </p:txBody>
      </p:sp>
      <p:pic>
        <p:nvPicPr>
          <p:cNvPr id="3" name="bar_chart" descr="Bar chart: Top Growth Categorie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AI-Powered Personalization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0547" y="1552194"/>
            <a:ext cx="10850599" cy="4197096"/>
          </a:xfrm>
          <a:prstGeom prst="roundRect">
            <a:avLst/>
          </a:prstGeom>
          <a:solidFill>
            <a:srgbClr val="DF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547" y="1552194"/>
            <a:ext cx="1085059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7707" y="1826514"/>
            <a:ext cx="1057627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2E86AB"/>
                </a:solidFill>
                <a:latin typeface="Calibri"/>
              </a:rPr>
              <a:t>35%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07" y="3106674"/>
            <a:ext cx="105762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4444"/>
                </a:solidFill>
                <a:latin typeface="Calibri"/>
              </a:rPr>
              <a:t>PERCENTAGE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Social Commerce</a:t>
            </a:r>
          </a:p>
        </p:txBody>
      </p:sp>
      <p:pic>
        <p:nvPicPr>
          <p:cNvPr id="3" name="bar_chart" descr="Bar chart: Social Commerc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Augmented Reality Shopping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70547" y="1552194"/>
            <a:ext cx="5288139" cy="4197096"/>
          </a:xfrm>
          <a:prstGeom prst="roundRect">
            <a:avLst/>
          </a:prstGeom>
          <a:solidFill>
            <a:srgbClr val="DF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0547" y="1552194"/>
            <a:ext cx="5288139" cy="54864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7707" y="1826514"/>
            <a:ext cx="50138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2E86AB"/>
                </a:solidFill>
                <a:latin typeface="Calibri"/>
              </a:rPr>
              <a:t>40%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7707" y="3106674"/>
            <a:ext cx="50138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4444"/>
                </a:solidFill>
                <a:latin typeface="Calibri"/>
              </a:rPr>
              <a:t>PERCENTAGE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552194"/>
            <a:ext cx="5288139" cy="4197096"/>
          </a:xfrm>
          <a:prstGeom prst="roundRect">
            <a:avLst/>
          </a:prstGeom>
          <a:solidFill>
            <a:srgbClr val="F1E1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33007" y="1552194"/>
            <a:ext cx="5288139" cy="54864"/>
          </a:xfrm>
          <a:prstGeom prst="rect">
            <a:avLst/>
          </a:prstGeom>
          <a:solidFill>
            <a:srgbClr val="A23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0167" y="1826514"/>
            <a:ext cx="5013819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A23B72"/>
                </a:solidFill>
                <a:latin typeface="Calibri"/>
              </a:rPr>
              <a:t>28%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0167" y="3106674"/>
            <a:ext cx="501381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44444"/>
                </a:solidFill>
                <a:latin typeface="Calibri"/>
              </a:rPr>
              <a:t>PERCENTAGE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Payment Innovation</a:t>
            </a:r>
          </a:p>
        </p:txBody>
      </p:sp>
      <p:pic>
        <p:nvPicPr>
          <p:cNvPr id="3" name="bar_chart" descr="Bar chart: Payment Innovati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Logistics and Fulfillment</a:t>
            </a:r>
          </a:p>
        </p:txBody>
      </p:sp>
      <p:pic>
        <p:nvPicPr>
          <p:cNvPr id="3" name="bar_chart" descr="Bar chart: Logistics and Fulfillme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322" y="1658264"/>
            <a:ext cx="10319050" cy="45427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Challenges and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670547" y="1460754"/>
            <a:ext cx="64008" cy="4937759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0587" y="150647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Rising tariffs and trade restrictions in 23 countries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0587" y="228371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Data privacy regulations (GDPR, CCPA, PIPL) increasing compliance costs by 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0587" y="3060953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Cybersecurity threats costing the industry $48B annually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0587" y="3838194"/>
            <a:ext cx="1030195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F81BD"/>
                </a:solidFill>
                <a:latin typeface="Calibri"/>
              </a:rPr>
              <a:t>▸ </a:t>
            </a:r>
            <a:r>
              <a:rPr sz="1800">
                <a:solidFill>
                  <a:srgbClr val="2A2A2A"/>
                </a:solidFill>
                <a:latin typeface="Calibri"/>
              </a:rPr>
              <a:t>Supply chain disruptions affecting 31% of cross-border shipments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Strategic Recommendations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752447" y="1831086"/>
            <a:ext cx="2286000" cy="172821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Invest in mobile-first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experiences and progressive web apps</a:t>
            </a:r>
          </a:p>
        </p:txBody>
      </p:sp>
      <p:sp>
        <p:nvSpPr>
          <p:cNvPr id="4" name="Oval 3"/>
          <p:cNvSpPr/>
          <p:nvPr/>
        </p:nvSpPr>
        <p:spPr>
          <a:xfrm>
            <a:off x="2703423" y="1639062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038447" y="2622041"/>
            <a:ext cx="54864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52847" y="1831086"/>
            <a:ext cx="2286000" cy="172821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Adopt AI-driven inventory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management to reduce stockouts by 30%</a:t>
            </a:r>
          </a:p>
        </p:txBody>
      </p:sp>
      <p:sp>
        <p:nvSpPr>
          <p:cNvPr id="7" name="Oval 6"/>
          <p:cNvSpPr/>
          <p:nvPr/>
        </p:nvSpPr>
        <p:spPr>
          <a:xfrm>
            <a:off x="5903823" y="1639062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238847" y="2622041"/>
            <a:ext cx="54864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53247" y="1831086"/>
            <a:ext cx="2286000" cy="172821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Expand into high-growth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markets (Latin America, Middle East, Southeast Asia)</a:t>
            </a:r>
          </a:p>
        </p:txBody>
      </p:sp>
      <p:sp>
        <p:nvSpPr>
          <p:cNvPr id="10" name="Oval 9"/>
          <p:cNvSpPr/>
          <p:nvPr/>
        </p:nvSpPr>
        <p:spPr>
          <a:xfrm>
            <a:off x="9104223" y="1639062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2647" y="4299966"/>
            <a:ext cx="2286000" cy="172821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Build omnichannel capabilities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bridging online and offline retail</a:t>
            </a:r>
          </a:p>
        </p:txBody>
      </p:sp>
      <p:sp>
        <p:nvSpPr>
          <p:cNvPr id="12" name="Oval 11"/>
          <p:cNvSpPr/>
          <p:nvPr/>
        </p:nvSpPr>
        <p:spPr>
          <a:xfrm>
            <a:off x="4303623" y="4107941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38647" y="5090921"/>
            <a:ext cx="548640" cy="182880"/>
          </a:xfrm>
          <a:prstGeom prst="rightArrow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553047" y="4299966"/>
            <a:ext cx="2286000" cy="1728215"/>
          </a:xfrm>
          <a:prstGeom prst="roundRect">
            <a:avLst/>
          </a:prstGeom>
          <a:solidFill>
            <a:srgbClr val="F5F5F5"/>
          </a:solidFill>
          <a:ln w="1905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1600"/>
              </a:spcBef>
            </a:pPr>
            <a:r>
              <a:rPr sz="1400" b="1">
                <a:solidFill>
                  <a:srgbClr val="333333"/>
                </a:solidFill>
                <a:latin typeface="Calibri"/>
              </a:rPr>
              <a:t>Prioritize sustainability and</a:t>
            </a:r>
          </a:p>
          <a:p>
            <a:pPr algn="ctr">
              <a:spcBef>
                <a:spcPts val="400"/>
              </a:spcBef>
            </a:pPr>
            <a:r>
              <a:rPr sz="1400">
                <a:solidFill>
                  <a:srgbClr val="666666"/>
                </a:solidFill>
                <a:latin typeface="Calibri"/>
              </a:rPr>
              <a:t>transparent supply chains</a:t>
            </a:r>
          </a:p>
        </p:txBody>
      </p:sp>
      <p:sp>
        <p:nvSpPr>
          <p:cNvPr id="15" name="Oval 14"/>
          <p:cNvSpPr/>
          <p:nvPr/>
        </p:nvSpPr>
        <p:spPr>
          <a:xfrm>
            <a:off x="7504023" y="4107941"/>
            <a:ext cx="384048" cy="384048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Calibri"/>
              </a:rP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761987" y="159791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1987" y="159791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6307" y="180365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39227" y="162534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Asia Pacific leads with 49% share (49.2)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1987" y="242087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61987" y="242087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36307" y="262661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9227" y="244830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Digital Wallets leads in Adoption Rate at 52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1987" y="324383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1987" y="324383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36307" y="344957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9227" y="327126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Top 2 (Asia Pacific + North America) control 68% of total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1987" y="406679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1987" y="406679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36307" y="427253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9227" y="409422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Middle East &amp; Africa leads in YoY Growth at 28.7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1987" y="4889754"/>
            <a:ext cx="10667719" cy="713232"/>
          </a:xfrm>
          <a:prstGeom prst="round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1987" y="4889754"/>
            <a:ext cx="64008" cy="71323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36307" y="5095494"/>
            <a:ext cx="320040" cy="320040"/>
          </a:xfrm>
          <a:prstGeom prst="ellipse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>
                <a:solidFill>
                  <a:srgbClr val="FFFFFF"/>
                </a:solidFill>
                <a:latin typeface="Calibri"/>
              </a:rPr>
              <a:t>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39227" y="4917186"/>
            <a:ext cx="9661879" cy="676656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0"/>
              </a:spcBef>
            </a:pPr>
            <a:r>
              <a:rPr sz="1800">
                <a:solidFill>
                  <a:srgbClr val="2A2A2A"/>
                </a:solidFill>
                <a:latin typeface="Calibri"/>
              </a:rPr>
              <a:t>Cryptocurrency leads in Avg. Order Value at 285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