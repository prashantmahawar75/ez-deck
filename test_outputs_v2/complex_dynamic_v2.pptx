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outlines the current state and future trajectory of the global e-commerce market. We will explore regional performance, emerging technologies, and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will cover seven key areas, starting with an executive summary and moving through regional data and technology trends. The session concludes with actionable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global e-commerce market reached $6.3 trillion in 2025, driven by Asia Pacific's dominance. High growth in emerging markets and digital adoption are key themes.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Asia Pacific holds nearly half the global market share, significantly outpacing North America and Europe. This concentration highlights the region's massive consumer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Asia Pacific leads in revenue, the Middle East and Africa show the highest year-over-year growth at 28.7%. North America remains a stable, high-revenue contributor.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categories are driving significant volume growth across all major regions. Sustainability is emerging as a key differentiator for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transforming personalization, while social platforms are becoming direct sales channels. Both technologies are essential for modern engagement strategies.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 technology allows customers to visualize products before buying, significantly reducing return rates. This is particularly impactful in fashion and home decor.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wallets lead in adoption and volume, while cryptocurrency commands the highest average order value. Diverse payment options are crucial for global reach.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logistics rely on automation and real-time data to speed up delivery. Sustainability is now integrated into the final packaging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challenges like cybersecurity and regulation persist, technology offers robust solutions. Companies can turn these hurdles into competitive advantages.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Asia Pacific and emerging markets for growth. Prioritize digital wallet integration and leverage high-value crypto transactions.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Global E-Commerce Market Analysis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Insights and Future Trends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Executive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Regional Revenue Breakdown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Growth Categories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Emerging Technologies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Payment Innovation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and Challenges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Asia Pacific dominates with 49.2% market share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Top two regions control 68% of total revenue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Middle East &amp; Africa shows highest growth potential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$6.3T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Global Market Share by Region</a:t>
            </a:r>
          </a:p>
        </p:txBody>
      </p:sp>
      <p:pic>
        <p:nvPicPr>
          <p:cNvPr id="3" name="pie_chart" descr="Pie chart: Global E-Commerce Market Sh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Regional Revenue and Growth</a:t>
            </a:r>
          </a:p>
        </p:txBody>
      </p:sp>
      <p:pic>
        <p:nvPicPr>
          <p:cNvPr id="3" name="bar_chart" descr="Bar chart: Regional Performance 20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Top Growth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Electronics and Consumer Tech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Fashion and Apparel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Health and Wellness Products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Home and Garden Supplies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Sustainable and Eco-Friendly Goods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Emerging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8766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AI-Powered Personalization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8766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6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Hyper-personalized product recommendations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Dynamic pricing strategies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Predictive inventory management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Enhanced customer support chatbots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460754"/>
            <a:ext cx="53795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Social Commerce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24447" y="1963674"/>
            <a:ext cx="5379579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4447" y="2100834"/>
            <a:ext cx="5379579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In-app purchasing features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Influencer-driven sales channels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Live streaming shopping events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333333"/>
                </a:solidFill>
                <a:latin typeface="Calibri"/>
              </a:rPr>
              <a:t>• Community-based buying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Augmented Reality Shopping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Virtual try-on for fashion and beauty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3D furniture visualization in homes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Interactive product demonstrations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Reduced return rates through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Payment Innovation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7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068"/>
                <a:gridCol w="2243271"/>
                <a:gridCol w="3106068"/>
                <a:gridCol w="276095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Adoption Rate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Transaction Volume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Avg. Order Value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Digital Wallets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52%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$2.8T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$67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Credit/Debit Cards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$2.1T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$85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Buy Now Pay Later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$1.1T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$120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Cryptocurrency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$0.3T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333333"/>
                          </a:solidFill>
                          <a:latin typeface="Calibri"/>
                        </a:rPr>
                        <a:t>$285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and Fulfillment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6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Real-time Inventory Tracking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AI-driven stock management</a:t>
            </a:r>
          </a:p>
        </p:txBody>
      </p:sp>
      <p:sp>
        <p:nvSpPr>
          <p:cNvPr id="4" name="Oval 3"/>
          <p:cNvSpPr/>
          <p:nvPr/>
        </p:nvSpPr>
        <p:spPr>
          <a:xfrm>
            <a:off x="143864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73667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64454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Automated Warehousing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Robotics and sorting systems</a:t>
            </a:r>
          </a:p>
        </p:txBody>
      </p:sp>
      <p:sp>
        <p:nvSpPr>
          <p:cNvPr id="7" name="Oval 6"/>
          <p:cNvSpPr/>
          <p:nvPr/>
        </p:nvSpPr>
        <p:spPr>
          <a:xfrm>
            <a:off x="4415430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750454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1240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Last-Mile Optimization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Drone and autonomous delivery</a:t>
            </a:r>
          </a:p>
        </p:txBody>
      </p:sp>
      <p:sp>
        <p:nvSpPr>
          <p:cNvPr id="10" name="Oval 9"/>
          <p:cNvSpPr/>
          <p:nvPr/>
        </p:nvSpPr>
        <p:spPr>
          <a:xfrm>
            <a:off x="7392216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727240" y="3856481"/>
            <a:ext cx="414471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418027" y="2201418"/>
            <a:ext cx="2286000" cy="3456431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Sustainable Packaging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Eco-friendly materials and reuse</a:t>
            </a:r>
          </a:p>
        </p:txBody>
      </p:sp>
      <p:sp>
        <p:nvSpPr>
          <p:cNvPr id="13" name="Oval 12"/>
          <p:cNvSpPr/>
          <p:nvPr/>
        </p:nvSpPr>
        <p:spPr>
          <a:xfrm>
            <a:off x="10369003" y="200939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Challenges vs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7667" y="1460754"/>
            <a:ext cx="4486543" cy="54864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Key Challenges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17483" y="1460754"/>
            <a:ext cx="4486543" cy="54864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Strategic Opportunities</a:t>
            </a:r>
          </a:p>
        </p:txBody>
      </p:sp>
      <p:sp>
        <p:nvSpPr>
          <p:cNvPr id="7" name="Oval 6"/>
          <p:cNvSpPr/>
          <p:nvPr/>
        </p:nvSpPr>
        <p:spPr>
          <a:xfrm>
            <a:off x="5821527" y="1460754"/>
            <a:ext cx="548640" cy="54864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7667" y="2146553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High fraud exposure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4974211" y="2146553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Cybersecurity Risks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17483" y="2146553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Advanced AI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67" y="2859785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Complex global laws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211" y="2859785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Regulatory 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17483" y="2859785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Standardized frameworks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" y="3573018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Rising fuel prices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4211" y="3573018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Logistics Costs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17483" y="3573018"/>
            <a:ext cx="4486543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Automated efficiency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7667" y="4286250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Intense competition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74211" y="4286250"/>
            <a:ext cx="2243271" cy="640080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4F81BD"/>
                </a:solidFill>
                <a:latin typeface="Calibri"/>
              </a:rPr>
              <a:t>Market Saturation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17483" y="4286250"/>
            <a:ext cx="4486543" cy="64008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333333"/>
                </a:solidFill>
                <a:latin typeface="Calibri"/>
              </a:rPr>
              <a:t>Niche market expansion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Asia Pacific leads with 49.2% market share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Digital Wallets dominate at 52% adoption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two regions control 68% of total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Middle East &amp; Africa leads growth at 28.7%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Crypto leads Avg Order Value at $285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