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everyone to our annual team offsite. This session is designed to align our strategic goals and foster deeper collaboration across all departments.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will cover five key areas today, starting with our core purpose and ending with actionable logistics. Please keep your questions for the end of each section.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summary outlines our primary goals: strategic alignment, technical review, and customer focus. We aim for full participation to ensure every voice is heard.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are now moving into the core strategic planning section. This part of the day focuses on our product future and engineering standards.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roadmap targets a Q3 beta launch followed by a full global release in Q4. These milestones are critical for meeting our annual revenue targets.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engineering team has achieved a 98.5% uptime and reduced bugs by 15%. These metrics demonstrate our commitment to high-quality, reliable software.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Next, we shift our focus to the customer. Understanding their needs is essential for our product roadmap and engineering priorities.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Feature requests make up the largest portion of our feedback at 45%. This indicates strong demand for new capabilities in our current product suite.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main hall accommodates 200 people with four breakout rooms available for smaller sessions. Accommodation is arranged at the Downtown Plaza hotel.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By the end of this offsite, we will have defined strategies, assigned owners, and set clear deadlines. A follow-up review is scheduled to track progress.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table outlines the detailed schedule for the day, including breaks and specific room assignments. Please refer to this for timing and location details.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 conclude, we have aligned on our goals, reviewed strong engineering metrics, and prioritized customer feedback. Everyone now has clear action items to execute.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latin typeface="Calibri"/>
              </a:rPr>
              <a:t>Team Offsite 2024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latin typeface="Calibri"/>
              </a:rPr>
              <a:t>Driving Innovation and Collaboration</a:t>
            </a:r>
          </a:p>
          <a:p>
            <a:r>
              <a:rPr sz="1400">
                <a:solidFill>
                  <a:srgbClr val="666666"/>
                </a:solidFill>
                <a:latin typeface="Calibri"/>
              </a:rPr>
              <a:t>
Leadership Team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libri"/>
              </a:rP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Oval 3"/>
          <p:cNvSpPr/>
          <p:nvPr/>
        </p:nvSpPr>
        <p:spPr>
          <a:xfrm>
            <a:off x="670547" y="1643634"/>
            <a:ext cx="384048" cy="384048"/>
          </a:xfrm>
          <a:prstGeom prst="ellipse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8915" y="1643634"/>
            <a:ext cx="10192231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333333"/>
                </a:solidFill>
                <a:latin typeface="Calibri"/>
              </a:rPr>
              <a:t>Purpose &amp; Objectives</a:t>
            </a:r>
          </a:p>
        </p:txBody>
      </p:sp>
      <p:sp>
        <p:nvSpPr>
          <p:cNvPr id="6" name="Oval 5"/>
          <p:cNvSpPr/>
          <p:nvPr/>
        </p:nvSpPr>
        <p:spPr>
          <a:xfrm>
            <a:off x="670547" y="2237994"/>
            <a:ext cx="384048" cy="384048"/>
          </a:xfrm>
          <a:prstGeom prst="ellipse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8915" y="2237994"/>
            <a:ext cx="10192231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333333"/>
                </a:solidFill>
                <a:latin typeface="Calibri"/>
              </a:rPr>
              <a:t>Product Roadmap Review</a:t>
            </a:r>
          </a:p>
        </p:txBody>
      </p:sp>
      <p:sp>
        <p:nvSpPr>
          <p:cNvPr id="8" name="Oval 7"/>
          <p:cNvSpPr/>
          <p:nvPr/>
        </p:nvSpPr>
        <p:spPr>
          <a:xfrm>
            <a:off x="670547" y="2832354"/>
            <a:ext cx="384048" cy="384048"/>
          </a:xfrm>
          <a:prstGeom prst="ellipse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8915" y="2832354"/>
            <a:ext cx="10192231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333333"/>
                </a:solidFill>
                <a:latin typeface="Calibri"/>
              </a:rPr>
              <a:t>Engineering Excellence</a:t>
            </a:r>
          </a:p>
        </p:txBody>
      </p:sp>
      <p:sp>
        <p:nvSpPr>
          <p:cNvPr id="10" name="Oval 9"/>
          <p:cNvSpPr/>
          <p:nvPr/>
        </p:nvSpPr>
        <p:spPr>
          <a:xfrm>
            <a:off x="670547" y="3426714"/>
            <a:ext cx="384048" cy="384048"/>
          </a:xfrm>
          <a:prstGeom prst="ellipse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8915" y="3426714"/>
            <a:ext cx="10192231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333333"/>
                </a:solidFill>
                <a:latin typeface="Calibri"/>
              </a:rPr>
              <a:t>Customer Insights</a:t>
            </a:r>
          </a:p>
        </p:txBody>
      </p:sp>
      <p:sp>
        <p:nvSpPr>
          <p:cNvPr id="12" name="Oval 11"/>
          <p:cNvSpPr/>
          <p:nvPr/>
        </p:nvSpPr>
        <p:spPr>
          <a:xfrm>
            <a:off x="670547" y="4021074"/>
            <a:ext cx="384048" cy="384048"/>
          </a:xfrm>
          <a:prstGeom prst="ellipse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8915" y="4021074"/>
            <a:ext cx="10192231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333333"/>
                </a:solidFill>
                <a:latin typeface="Calibri"/>
              </a:rPr>
              <a:t>Logistics &amp; Next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libri"/>
              </a:rP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61987" y="1460754"/>
            <a:ext cx="10667719" cy="34564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</a:pPr>
            <a:r>
              <a:rPr sz="1800">
                <a:solidFill>
                  <a:srgbClr val="4F81BD"/>
                </a:solidFill>
                <a:latin typeface="Calibri"/>
              </a:rPr>
              <a:t>▸ </a:t>
            </a:r>
            <a:r>
              <a:rPr sz="1800">
                <a:solidFill>
                  <a:srgbClr val="333333"/>
                </a:solidFill>
                <a:latin typeface="Calibri"/>
              </a:rPr>
              <a:t>Align on Q3-Q4 strategic priorities</a:t>
            </a:r>
          </a:p>
          <a:p>
            <a:pPr>
              <a:spcBef>
                <a:spcPts val="800"/>
              </a:spcBef>
              <a:spcAft>
                <a:spcPts val="800"/>
              </a:spcAft>
            </a:pPr>
            <a:r>
              <a:rPr sz="1800">
                <a:solidFill>
                  <a:srgbClr val="4F81BD"/>
                </a:solidFill>
                <a:latin typeface="Calibri"/>
              </a:rPr>
              <a:t>▸ </a:t>
            </a:r>
            <a:r>
              <a:rPr sz="1800">
                <a:solidFill>
                  <a:srgbClr val="333333"/>
                </a:solidFill>
                <a:latin typeface="Calibri"/>
              </a:rPr>
              <a:t>Review engineering performance metrics</a:t>
            </a:r>
          </a:p>
          <a:p>
            <a:pPr>
              <a:spcBef>
                <a:spcPts val="800"/>
              </a:spcBef>
              <a:spcAft>
                <a:spcPts val="800"/>
              </a:spcAft>
            </a:pPr>
            <a:r>
              <a:rPr sz="1800">
                <a:solidFill>
                  <a:srgbClr val="4F81BD"/>
                </a:solidFill>
                <a:latin typeface="Calibri"/>
              </a:rPr>
              <a:t>▸ </a:t>
            </a:r>
            <a:r>
              <a:rPr sz="1800">
                <a:solidFill>
                  <a:srgbClr val="333333"/>
                </a:solidFill>
                <a:latin typeface="Calibri"/>
              </a:rPr>
              <a:t>Deep dive into customer feedback loops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30939" y="5164074"/>
            <a:ext cx="6729815" cy="640080"/>
          </a:xfrm>
          <a:prstGeom prst="round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Key Metric: 100% Team Participation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libri"/>
              </a:rPr>
              <a:t>Strategic Planning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>
                <a:latin typeface="Calibri"/>
              </a:rPr>
              <a:t>Product &amp; Engineering Focus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libri"/>
              </a:rPr>
              <a:t>Product Roadmap</a:t>
            </a:r>
          </a:p>
        </p:txBody>
      </p:sp>
      <p:sp>
        <p:nvSpPr>
          <p:cNvPr id="3" name="Rectangle 2"/>
          <p:cNvSpPr/>
          <p:nvPr/>
        </p:nvSpPr>
        <p:spPr>
          <a:xfrm>
            <a:off x="487667" y="3682746"/>
            <a:ext cx="11216359" cy="36576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219901" y="3563874"/>
            <a:ext cx="274320" cy="274320"/>
          </a:xfrm>
          <a:prstGeom prst="ellipse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Q3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76" y="2311146"/>
            <a:ext cx="3177968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333333"/>
                </a:solidFill>
                <a:latin typeface="Calibri"/>
              </a:rPr>
              <a:t>Feature Launch Alpha</a:t>
            </a:r>
          </a:p>
          <a:p>
            <a:pPr algn="ctr"/>
            <a:r>
              <a:rPr sz="1400">
                <a:solidFill>
                  <a:srgbClr val="666666"/>
                </a:solidFill>
                <a:latin typeface="Calibri"/>
              </a:rPr>
              <a:t>Release core functionality to beta users</a:t>
            </a:r>
          </a:p>
        </p:txBody>
      </p:sp>
      <p:sp>
        <p:nvSpPr>
          <p:cNvPr id="6" name="Oval 5"/>
          <p:cNvSpPr/>
          <p:nvPr/>
        </p:nvSpPr>
        <p:spPr>
          <a:xfrm>
            <a:off x="5958687" y="3563874"/>
            <a:ext cx="274320" cy="274320"/>
          </a:xfrm>
          <a:prstGeom prst="ellipse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Q3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06863" y="4048506"/>
            <a:ext cx="3177968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333333"/>
                </a:solidFill>
                <a:latin typeface="Calibri"/>
              </a:rPr>
              <a:t>Market Research</a:t>
            </a:r>
          </a:p>
          <a:p>
            <a:pPr algn="ctr"/>
            <a:r>
              <a:rPr sz="1400">
                <a:solidFill>
                  <a:srgbClr val="666666"/>
                </a:solidFill>
                <a:latin typeface="Calibri"/>
              </a:rPr>
              <a:t>Gather feedback from early adopters</a:t>
            </a:r>
          </a:p>
        </p:txBody>
      </p:sp>
      <p:sp>
        <p:nvSpPr>
          <p:cNvPr id="8" name="Oval 7"/>
          <p:cNvSpPr/>
          <p:nvPr/>
        </p:nvSpPr>
        <p:spPr>
          <a:xfrm>
            <a:off x="9697474" y="3563874"/>
            <a:ext cx="274320" cy="274320"/>
          </a:xfrm>
          <a:prstGeom prst="ellipse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Q4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45649" y="2311146"/>
            <a:ext cx="3177968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333333"/>
                </a:solidFill>
                <a:latin typeface="Calibri"/>
              </a:rPr>
              <a:t>Full Product Launch</a:t>
            </a:r>
          </a:p>
          <a:p>
            <a:pPr algn="ctr"/>
            <a:r>
              <a:rPr sz="1400">
                <a:solidFill>
                  <a:srgbClr val="666666"/>
                </a:solidFill>
                <a:latin typeface="Calibri"/>
              </a:rPr>
              <a:t>Global release and marketing campaign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libri"/>
              </a:rPr>
              <a:t>Engineering Excellence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1609303" y="1460754"/>
            <a:ext cx="8973087" cy="27432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87667" y="1826514"/>
            <a:ext cx="3738786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>
                <a:solidFill>
                  <a:srgbClr val="4F81BD"/>
                </a:solidFill>
                <a:latin typeface="Calibri"/>
              </a:rPr>
              <a:t>98.5%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7667" y="3015234"/>
            <a:ext cx="373878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333333"/>
                </a:solidFill>
                <a:latin typeface="Calibri"/>
              </a:rPr>
              <a:t>Uptime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7667" y="3563874"/>
            <a:ext cx="373878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>
                <a:solidFill>
                  <a:srgbClr val="777777"/>
                </a:solidFill>
                <a:latin typeface="Calibri"/>
              </a:rPr>
              <a:t>Exceeds industry standard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26454" y="1826514"/>
            <a:ext cx="3738786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>
                <a:solidFill>
                  <a:srgbClr val="4F81BD"/>
                </a:solidFill>
                <a:latin typeface="Calibri"/>
              </a:rPr>
              <a:t>15%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26454" y="3015234"/>
            <a:ext cx="373878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333333"/>
                </a:solidFill>
                <a:latin typeface="Calibri"/>
              </a:rPr>
              <a:t>Bug Reduction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26454" y="3563874"/>
            <a:ext cx="373878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>
                <a:solidFill>
                  <a:srgbClr val="777777"/>
                </a:solidFill>
                <a:latin typeface="Calibri"/>
              </a:rPr>
              <a:t>Year-over-year improvement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65240" y="1826514"/>
            <a:ext cx="3738786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>
                <a:solidFill>
                  <a:srgbClr val="4F81BD"/>
                </a:solidFill>
                <a:latin typeface="Calibri"/>
              </a:rPr>
              <a:t>2.5s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65240" y="3015234"/>
            <a:ext cx="373878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333333"/>
                </a:solidFill>
                <a:latin typeface="Calibri"/>
              </a:rPr>
              <a:t>Load Time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65240" y="3563874"/>
            <a:ext cx="373878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>
                <a:solidFill>
                  <a:srgbClr val="777777"/>
                </a:solidFill>
                <a:latin typeface="Calibri"/>
              </a:rPr>
              <a:t>Optimized for mobile users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libri"/>
              </a:rPr>
              <a:t>Customer Focus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>
                <a:latin typeface="Calibri"/>
              </a:rPr>
              <a:t>Insights &amp; Feedback Analysis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libri"/>
              </a:rPr>
              <a:t>Customer Feedback Distribution</a:t>
            </a:r>
          </a:p>
        </p:txBody>
      </p:sp>
      <p:pic>
        <p:nvPicPr>
          <p:cNvPr id="3" name="pie_chart" descr="Pie chart: Customer Feedback Categorie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8894" y="1831085"/>
            <a:ext cx="9533905" cy="419709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libri"/>
              </a:rPr>
              <a:t>Logistics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87667" y="1460754"/>
            <a:ext cx="53795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4F81BD"/>
                </a:solidFill>
                <a:latin typeface="Calibri"/>
              </a:rPr>
              <a:t>Venue Information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87667" y="1963674"/>
            <a:ext cx="5379579" cy="27432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7667" y="2100834"/>
            <a:ext cx="5379579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400">
                <a:solidFill>
                  <a:srgbClr val="333333"/>
                </a:solidFill>
                <a:latin typeface="Calibri"/>
              </a:rPr>
              <a:t>• Main Hall: 200 Capacity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333333"/>
                </a:solidFill>
                <a:latin typeface="Calibri"/>
              </a:rPr>
              <a:t>• Breakout Rooms: 4 Available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333333"/>
                </a:solidFill>
                <a:latin typeface="Calibri"/>
              </a:rPr>
              <a:t>• AV Equipment Included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4447" y="1460754"/>
            <a:ext cx="53795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4F81BD"/>
                </a:solidFill>
                <a:latin typeface="Calibri"/>
              </a:rPr>
              <a:t>Accommodation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6324447" y="1963674"/>
            <a:ext cx="5379579" cy="27432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24447" y="2100834"/>
            <a:ext cx="5379579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400">
                <a:solidFill>
                  <a:srgbClr val="333333"/>
                </a:solidFill>
                <a:latin typeface="Calibri"/>
              </a:rPr>
              <a:t>• Hotel: Downtown Plaza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333333"/>
                </a:solidFill>
                <a:latin typeface="Calibri"/>
              </a:rPr>
              <a:t>• Check-in: 3:00 PM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333333"/>
                </a:solidFill>
                <a:latin typeface="Calibri"/>
              </a:rPr>
              <a:t>• Check-out: 11:00 AM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libri"/>
              </a:rPr>
              <a:t>Expected Outcomes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87667" y="2201418"/>
            <a:ext cx="2286000" cy="3456431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4F81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600"/>
              </a:spcBef>
            </a:pPr>
            <a:r>
              <a:rPr sz="1400" b="1">
                <a:solidFill>
                  <a:srgbClr val="333333"/>
                </a:solidFill>
                <a:latin typeface="Calibri"/>
              </a:rPr>
              <a:t>Define Strategy</a:t>
            </a:r>
          </a:p>
          <a:p>
            <a:pPr algn="ctr">
              <a:spcBef>
                <a:spcPts val="400"/>
              </a:spcBef>
            </a:pPr>
            <a:r>
              <a:rPr sz="1400">
                <a:solidFill>
                  <a:srgbClr val="666666"/>
                </a:solidFill>
                <a:latin typeface="Calibri"/>
              </a:rPr>
              <a:t>Finalize Q3-Q4 goals</a:t>
            </a:r>
          </a:p>
        </p:txBody>
      </p:sp>
      <p:sp>
        <p:nvSpPr>
          <p:cNvPr id="4" name="Oval 3"/>
          <p:cNvSpPr/>
          <p:nvPr/>
        </p:nvSpPr>
        <p:spPr>
          <a:xfrm>
            <a:off x="1438643" y="2009393"/>
            <a:ext cx="384048" cy="384048"/>
          </a:xfrm>
          <a:prstGeom prst="ellipse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773667" y="3856481"/>
            <a:ext cx="414471" cy="182880"/>
          </a:xfrm>
          <a:prstGeom prst="rightArrow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464454" y="2201418"/>
            <a:ext cx="2286000" cy="3456431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4F81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600"/>
              </a:spcBef>
            </a:pPr>
            <a:r>
              <a:rPr sz="1400" b="1">
                <a:solidFill>
                  <a:srgbClr val="333333"/>
                </a:solidFill>
                <a:latin typeface="Calibri"/>
              </a:rPr>
              <a:t>Assign Owners</a:t>
            </a:r>
          </a:p>
          <a:p>
            <a:pPr algn="ctr">
              <a:spcBef>
                <a:spcPts val="400"/>
              </a:spcBef>
            </a:pPr>
            <a:r>
              <a:rPr sz="1400">
                <a:solidFill>
                  <a:srgbClr val="666666"/>
                </a:solidFill>
                <a:latin typeface="Calibri"/>
              </a:rPr>
              <a:t>Allocate tasks to teams</a:t>
            </a:r>
          </a:p>
        </p:txBody>
      </p:sp>
      <p:sp>
        <p:nvSpPr>
          <p:cNvPr id="7" name="Oval 6"/>
          <p:cNvSpPr/>
          <p:nvPr/>
        </p:nvSpPr>
        <p:spPr>
          <a:xfrm>
            <a:off x="4415430" y="2009393"/>
            <a:ext cx="384048" cy="384048"/>
          </a:xfrm>
          <a:prstGeom prst="ellipse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750454" y="3856481"/>
            <a:ext cx="414471" cy="182880"/>
          </a:xfrm>
          <a:prstGeom prst="rightArrow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41240" y="2201418"/>
            <a:ext cx="2286000" cy="3456431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4F81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600"/>
              </a:spcBef>
            </a:pPr>
            <a:r>
              <a:rPr sz="1400" b="1">
                <a:solidFill>
                  <a:srgbClr val="333333"/>
                </a:solidFill>
                <a:latin typeface="Calibri"/>
              </a:rPr>
              <a:t>Set Deadlines</a:t>
            </a:r>
          </a:p>
          <a:p>
            <a:pPr algn="ctr">
              <a:spcBef>
                <a:spcPts val="400"/>
              </a:spcBef>
            </a:pPr>
            <a:r>
              <a:rPr sz="1400">
                <a:solidFill>
                  <a:srgbClr val="666666"/>
                </a:solidFill>
                <a:latin typeface="Calibri"/>
              </a:rPr>
              <a:t>Establish clear timelines</a:t>
            </a:r>
          </a:p>
        </p:txBody>
      </p:sp>
      <p:sp>
        <p:nvSpPr>
          <p:cNvPr id="10" name="Oval 9"/>
          <p:cNvSpPr/>
          <p:nvPr/>
        </p:nvSpPr>
        <p:spPr>
          <a:xfrm>
            <a:off x="7392216" y="2009393"/>
            <a:ext cx="384048" cy="384048"/>
          </a:xfrm>
          <a:prstGeom prst="ellipse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8727240" y="3856481"/>
            <a:ext cx="414471" cy="182880"/>
          </a:xfrm>
          <a:prstGeom prst="rightArrow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418027" y="2201418"/>
            <a:ext cx="2286000" cy="3456431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4F81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600"/>
              </a:spcBef>
            </a:pPr>
            <a:r>
              <a:rPr sz="1400" b="1">
                <a:solidFill>
                  <a:srgbClr val="333333"/>
                </a:solidFill>
                <a:latin typeface="Calibri"/>
              </a:rPr>
              <a:t>Review Progress</a:t>
            </a:r>
          </a:p>
          <a:p>
            <a:pPr algn="ctr">
              <a:spcBef>
                <a:spcPts val="400"/>
              </a:spcBef>
            </a:pPr>
            <a:r>
              <a:rPr sz="1400">
                <a:solidFill>
                  <a:srgbClr val="666666"/>
                </a:solidFill>
                <a:latin typeface="Calibri"/>
              </a:rPr>
              <a:t>Schedule follow-up meetings</a:t>
            </a:r>
          </a:p>
        </p:txBody>
      </p:sp>
      <p:sp>
        <p:nvSpPr>
          <p:cNvPr id="13" name="Oval 12"/>
          <p:cNvSpPr/>
          <p:nvPr/>
        </p:nvSpPr>
        <p:spPr>
          <a:xfrm>
            <a:off x="10369003" y="2009393"/>
            <a:ext cx="384048" cy="384048"/>
          </a:xfrm>
          <a:prstGeom prst="ellipse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libri"/>
              </a:rPr>
              <a:t>Offsite Schedule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87667" y="2900933"/>
          <a:ext cx="11216359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2556"/>
                <a:gridCol w="6309202"/>
                <a:gridCol w="3154601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Time</a:t>
                      </a:r>
                    </a:p>
                  </a:txBody>
                  <a:tcPr marL="73152" marR="73152" marT="73152" marB="73152" anchor="ctr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Activity</a:t>
                      </a:r>
                    </a:p>
                  </a:txBody>
                  <a:tcPr marL="73152" marR="73152" marT="73152" marB="73152" anchor="ctr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Location</a:t>
                      </a:r>
                    </a:p>
                  </a:txBody>
                  <a:tcPr marL="73152" marR="73152" marT="73152" marB="73152" anchor="ctr">
                    <a:solidFill>
                      <a:srgbClr val="4F81B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09:00</a:t>
                      </a:r>
                    </a:p>
                  </a:txBody>
                  <a:tcPr marL="73152" marR="73152" marT="73152" marB="7315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Opening Remarks</a:t>
                      </a:r>
                    </a:p>
                  </a:txBody>
                  <a:tcPr marL="73152" marR="73152" marT="73152" marB="7315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Main Hall</a:t>
                      </a:r>
                    </a:p>
                  </a:txBody>
                  <a:tcPr marL="73152" marR="73152" marT="73152" marB="73152" anchor="ctr">
                    <a:solidFill>
                      <a:srgbClr val="F5F7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10:30</a:t>
                      </a:r>
                    </a:p>
                  </a:txBody>
                  <a:tcPr marL="73152" marR="73152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Product Workshop</a:t>
                      </a:r>
                    </a:p>
                  </a:txBody>
                  <a:tcPr marL="73152" marR="73152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Room A</a:t>
                      </a:r>
                    </a:p>
                  </a:txBody>
                  <a:tcPr marL="73152" marR="73152" marT="73152" marB="73152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12:00</a:t>
                      </a:r>
                    </a:p>
                  </a:txBody>
                  <a:tcPr marL="73152" marR="73152" marT="73152" marB="7315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Lunch Break</a:t>
                      </a:r>
                    </a:p>
                  </a:txBody>
                  <a:tcPr marL="73152" marR="73152" marT="73152" marB="7315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Cafeteria</a:t>
                      </a:r>
                    </a:p>
                  </a:txBody>
                  <a:tcPr marL="73152" marR="73152" marT="73152" marB="73152" anchor="ctr">
                    <a:solidFill>
                      <a:srgbClr val="F5F7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14:00</a:t>
                      </a:r>
                    </a:p>
                  </a:txBody>
                  <a:tcPr marL="73152" marR="73152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Engineering Review</a:t>
                      </a:r>
                    </a:p>
                  </a:txBody>
                  <a:tcPr marL="73152" marR="73152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Room B</a:t>
                      </a:r>
                    </a:p>
                  </a:txBody>
                  <a:tcPr marL="73152" marR="73152" marT="73152" marB="7315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libri"/>
              </a:rP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Oval 3"/>
          <p:cNvSpPr/>
          <p:nvPr/>
        </p:nvSpPr>
        <p:spPr>
          <a:xfrm>
            <a:off x="761987" y="1643634"/>
            <a:ext cx="365760" cy="365760"/>
          </a:xfrm>
          <a:prstGeom prst="ellipse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FFFFFF"/>
                </a:solidFill>
                <a:latin typeface="Calibri"/>
              </a:rPr>
              <a:t>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02067" y="1643634"/>
            <a:ext cx="100276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333333"/>
                </a:solidFill>
                <a:latin typeface="Calibri"/>
              </a:rPr>
              <a:t>Aligned on Q3-Q4 strategic goals</a:t>
            </a:r>
          </a:p>
        </p:txBody>
      </p:sp>
      <p:sp>
        <p:nvSpPr>
          <p:cNvPr id="6" name="Oval 5"/>
          <p:cNvSpPr/>
          <p:nvPr/>
        </p:nvSpPr>
        <p:spPr>
          <a:xfrm>
            <a:off x="761987" y="2375154"/>
            <a:ext cx="365760" cy="365760"/>
          </a:xfrm>
          <a:prstGeom prst="ellipse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FFFFFF"/>
                </a:solidFill>
                <a:latin typeface="Calibri"/>
              </a:rPr>
              <a:t>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02067" y="2375154"/>
            <a:ext cx="100276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333333"/>
                </a:solidFill>
                <a:latin typeface="Calibri"/>
              </a:rPr>
              <a:t>Engineering metrics show strong performance</a:t>
            </a:r>
          </a:p>
        </p:txBody>
      </p:sp>
      <p:sp>
        <p:nvSpPr>
          <p:cNvPr id="8" name="Oval 7"/>
          <p:cNvSpPr/>
          <p:nvPr/>
        </p:nvSpPr>
        <p:spPr>
          <a:xfrm>
            <a:off x="761987" y="3106674"/>
            <a:ext cx="365760" cy="365760"/>
          </a:xfrm>
          <a:prstGeom prst="ellipse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FFFFFF"/>
                </a:solidFill>
                <a:latin typeface="Calibri"/>
              </a:rPr>
              <a:t>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02067" y="3106674"/>
            <a:ext cx="100276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333333"/>
                </a:solidFill>
                <a:latin typeface="Calibri"/>
              </a:rPr>
              <a:t>Customer feedback drives future features</a:t>
            </a:r>
          </a:p>
        </p:txBody>
      </p:sp>
      <p:sp>
        <p:nvSpPr>
          <p:cNvPr id="10" name="Oval 9"/>
          <p:cNvSpPr/>
          <p:nvPr/>
        </p:nvSpPr>
        <p:spPr>
          <a:xfrm>
            <a:off x="761987" y="3838194"/>
            <a:ext cx="365760" cy="365760"/>
          </a:xfrm>
          <a:prstGeom prst="ellipse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FFFFFF"/>
                </a:solidFill>
                <a:latin typeface="Calibri"/>
              </a:rPr>
              <a:t>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2067" y="3838194"/>
            <a:ext cx="100276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333333"/>
                </a:solidFill>
                <a:latin typeface="Calibri"/>
              </a:rPr>
              <a:t>Clear action items assigned to teams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